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imeortiz/outlet-media-app/.claude/worktrees/relaxed-cartwright-cc4d73/decks/assets/roa-gracias-p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0"/>
            <a:ext cx="6979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0"/>
            <a:ext cx="274320" cy="6858000"/>
          </a:xfrm>
          <a:prstGeom prst="rect">
            <a:avLst/>
          </a:prstGeom>
          <a:solidFill>
            <a:srgbClr val="07070A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68112" y="0"/>
            <a:ext cx="274320" cy="6858000"/>
          </a:xfrm>
          <a:prstGeom prst="rect">
            <a:avLst/>
          </a:prstGeom>
          <a:solidFill>
            <a:srgbClr val="07070A">
              <a:alpha val="79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24144" y="0"/>
            <a:ext cx="274320" cy="6858000"/>
          </a:xfrm>
          <a:prstGeom prst="rect">
            <a:avLst/>
          </a:prstGeom>
          <a:solidFill>
            <a:srgbClr val="07070A">
              <a:alpha val="7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980176" y="0"/>
            <a:ext cx="274320" cy="6858000"/>
          </a:xfrm>
          <a:prstGeom prst="rect">
            <a:avLst/>
          </a:prstGeom>
          <a:solidFill>
            <a:srgbClr val="07070A">
              <a:alpha val="67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36208" y="0"/>
            <a:ext cx="274320" cy="6858000"/>
          </a:xfrm>
          <a:prstGeom prst="rect">
            <a:avLst/>
          </a:prstGeom>
          <a:solidFill>
            <a:srgbClr val="07070A">
              <a:alpha val="61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92240" y="0"/>
            <a:ext cx="274320" cy="6858000"/>
          </a:xfrm>
          <a:prstGeom prst="rect">
            <a:avLst/>
          </a:prstGeom>
          <a:solidFill>
            <a:srgbClr val="07070A">
              <a:alpha val="5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748272" y="0"/>
            <a:ext cx="274320" cy="6858000"/>
          </a:xfrm>
          <a:prstGeom prst="rect">
            <a:avLst/>
          </a:prstGeom>
          <a:solidFill>
            <a:srgbClr val="07070A">
              <a:alpha val="49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004304" y="0"/>
            <a:ext cx="274320" cy="6858000"/>
          </a:xfrm>
          <a:prstGeom prst="rect">
            <a:avLst/>
          </a:prstGeom>
          <a:solidFill>
            <a:srgbClr val="07070A">
              <a:alpha val="43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260336" y="0"/>
            <a:ext cx="274320" cy="6858000"/>
          </a:xfrm>
          <a:prstGeom prst="rect">
            <a:avLst/>
          </a:prstGeom>
          <a:solidFill>
            <a:srgbClr val="07070A">
              <a:alpha val="37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516368" y="0"/>
            <a:ext cx="274320" cy="6858000"/>
          </a:xfrm>
          <a:prstGeom prst="rect">
            <a:avLst/>
          </a:prstGeom>
          <a:solidFill>
            <a:srgbClr val="07070A">
              <a:alpha val="31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0" y="0"/>
            <a:ext cx="274320" cy="6858000"/>
          </a:xfrm>
          <a:prstGeom prst="rect">
            <a:avLst/>
          </a:prstGeom>
          <a:solidFill>
            <a:srgbClr val="07070A">
              <a:alpha val="2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28432" y="0"/>
            <a:ext cx="274320" cy="6858000"/>
          </a:xfrm>
          <a:prstGeom prst="rect">
            <a:avLst/>
          </a:prstGeom>
          <a:solidFill>
            <a:srgbClr val="07070A">
              <a:alpha val="19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284464" y="0"/>
            <a:ext cx="274320" cy="6858000"/>
          </a:xfrm>
          <a:prstGeom prst="rect">
            <a:avLst/>
          </a:prstGeom>
          <a:solidFill>
            <a:srgbClr val="07070A">
              <a:alpha val="13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540496" y="0"/>
            <a:ext cx="274320" cy="6858000"/>
          </a:xfrm>
          <a:prstGeom prst="rect">
            <a:avLst/>
          </a:prstGeom>
          <a:solidFill>
            <a:srgbClr val="07070A">
              <a:alpha val="7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7070A"/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PLAYBOOK  · 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1005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</a:t>
            </a:r>
            <a:endParaRPr lang="en-US" sz="20000" dirty="0"/>
          </a:p>
        </p:txBody>
      </p:sp>
      <p:sp>
        <p:nvSpPr>
          <p:cNvPr id="21" name="Text 18"/>
          <p:cNvSpPr/>
          <p:nvPr/>
        </p:nvSpPr>
        <p:spPr>
          <a:xfrm>
            <a:off x="64008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 TOUR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640080" y="3794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2026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64008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 ·  Pre-sale  ·  On-sale  ·  Sustain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212080"/>
            <a:ext cx="4480560" cy="0"/>
          </a:xfrm>
          <a:prstGeom prst="line">
            <a:avLst/>
          </a:prstGeom>
          <a:noFill/>
          <a:ln w="12700">
            <a:solidFill>
              <a:srgbClr val="2220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21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640080" y="5943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82880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1828800" y="5943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017520" y="5349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~47K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3017520" y="5943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38912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8W</a:t>
            </a:r>
            <a:endParaRPr lang="en-US" sz="3600" dirty="0"/>
          </a:p>
        </p:txBody>
      </p:sp>
      <p:sp>
        <p:nvSpPr>
          <p:cNvPr id="32" name="Text 29"/>
          <p:cNvSpPr/>
          <p:nvPr/>
        </p:nvSpPr>
        <p:spPr>
          <a:xfrm>
            <a:off x="4389120" y="5943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6  —  SEP 26, 2026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0" y="5486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00" dirty="0"/>
          </a:p>
        </p:txBody>
      </p:sp>
      <p:pic>
        <p:nvPicPr>
          <p:cNvPr id="35" name="Image 1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715000"/>
            <a:ext cx="164592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TOUR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21 shows. 8 weeks. Four regional clusters.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1005840"/>
                <a:gridCol w="1691640"/>
                <a:gridCol w="457200"/>
                <a:gridCol w="274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York, 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Thu, Aug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Palladium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Philadelphia, 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Aug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Music Hall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Reading, 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Aug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PAC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Washington,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Thu, Aug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Boston, 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Aug 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Lynn Auditorium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Providence, 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Aug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Chicago, 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Aug 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Columbus, OH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Aug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Charlotte, 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Aug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Ovens Auditorium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Atlanta, 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Aug 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 Coliseum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Thu, Sep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1005840"/>
                <a:gridCol w="1691640"/>
                <a:gridCol w="457200"/>
                <a:gridCol w="274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Fresno,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Sep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Rainbow Ballroom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Jose,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Sep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Jose Event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Thu, Sep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 Bandshell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Orlando,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Sep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HRL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Tampa,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Sep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Jannus Live / Ritz Ybor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Thu, Sep 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Dallas, 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Sep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Escapade 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Houston, 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Sep 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Oak Music Hall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Denver, 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Sep 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Stampede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Minneapolis, 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Sep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Myth Live (Maplewood)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263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KEY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417320" y="6291072"/>
            <a:ext cx="164592" cy="164592"/>
          </a:xfrm>
          <a:prstGeom prst="rect">
            <a:avLst/>
          </a:prstGeom>
          <a:solidFill>
            <a:srgbClr val="B10E1F"/>
          </a:solidFill>
          <a:ln/>
        </p:spPr>
      </p:sp>
      <p:sp>
        <p:nvSpPr>
          <p:cNvPr id="9" name="Text 5"/>
          <p:cNvSpPr/>
          <p:nvPr/>
        </p:nvSpPr>
        <p:spPr>
          <a:xfrm>
            <a:off x="1645920" y="6263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Priority metro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6291072"/>
            <a:ext cx="164592" cy="164592"/>
          </a:xfrm>
          <a:prstGeom prst="rect">
            <a:avLst/>
          </a:prstGeom>
          <a:solidFill>
            <a:srgbClr val="E4521E"/>
          </a:solidFill>
          <a:ln/>
        </p:spPr>
      </p:sp>
      <p:sp>
        <p:nvSpPr>
          <p:cNvPr id="11" name="Text 7"/>
          <p:cNvSpPr/>
          <p:nvPr/>
        </p:nvSpPr>
        <p:spPr>
          <a:xfrm>
            <a:off x="3794760" y="6263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Secondary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40680" y="6291072"/>
            <a:ext cx="164592" cy="164592"/>
          </a:xfrm>
          <a:prstGeom prst="rect">
            <a:avLst/>
          </a:prstGeom>
          <a:solidFill>
            <a:srgbClr val="807A70"/>
          </a:solidFill>
          <a:ln/>
        </p:spPr>
      </p:sp>
      <p:sp>
        <p:nvSpPr>
          <p:cNvPr id="13" name="Text 9"/>
          <p:cNvSpPr/>
          <p:nvPr/>
        </p:nvSpPr>
        <p:spPr>
          <a:xfrm>
            <a:off x="5669280" y="6263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Regional / build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15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MARKET TIERS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Budget and creative effort follow tier.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703320" cy="438912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703320" cy="109728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Priority Metros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shows  ·  ~55% of budget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PR/Latino DMAs, proven ticket velocity. Full-funnel from 8 weeks out.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703320" cy="438912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3703320" cy="109728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Secondary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shows  ·  ~30% of budget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2461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Minneapolis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demand, lighter cold spend. Lean on lookalikes of Tier A buyers.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703320" cy="438912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828800"/>
            <a:ext cx="3703320" cy="109728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4964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Regional / Build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49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shows  ·  ~15% of budget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32461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49640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markets to nearby Tier A/B. Drive-in targeting from 75mi radius.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2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CAMPAIGN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Four phases, one funnel, repeated per city.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005840" cy="91440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2029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TEASE &amp; ANNOUNCE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 → T-7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29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warm audience. Collect emails.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0" y="20299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183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/ Lead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1005840" cy="914400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31272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PRE-SALE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 → T-5 weeks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warm audience with code.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(Purchase)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1005840" cy="914400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691640" y="42245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ON-SALE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T-5 → T-2 weeks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224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4434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cold + retarget.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4224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4434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(Purchase)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31314"/>
          </a:solidFill>
          <a:ln w="9525">
            <a:solidFill>
              <a:srgbClr val="22201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212080"/>
            <a:ext cx="1005840" cy="914400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394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691640" y="53218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SUSTAIN / FILL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91640" y="5715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 → show day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321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5532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remaining inventory.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18320" y="5321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18320" y="5532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+ Reach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42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Tease &amp; Announce — T-10 to T-7 weeks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0" cy="109728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Announce the tour, build warm audience, collect pre-sale email list.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video drop across Reels + TikTok (organic)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post on IG + FB the same day as ads go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campaign (video views, 3s) — cheap reach in Tier 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ads (email) in Tier A + Tier B metros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email capture + "Notify Me" by 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943600" cy="2057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2402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per city  (25mi + 75mi feeder radius)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Reggaeton, Latin Urban, ROA peers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of prior Zamora Live ticket buyers (1-3%)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viewers of teaser (seed for Phase 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+ 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443484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Story split (4:5 feed + 9:16 story/reels)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hooks  ×  ES / EN subtitles  ×  2 placements = 8 creatives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share of city total: ~20%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CPL (email): ≤ $1.50 Tier A  ·  ≤ $2.00 Tier B/C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1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Pre-sale — T-7 to T-5 weeks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0" cy="109728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Convert the warm list with an exclusive pre-sale code, 48h window.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blast to list (code + countdown)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ads to video viewers + LP visitors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if list has numbers (Zamora Live list)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spend — pre-sale targets only warm audience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943600" cy="2057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331720"/>
            <a:ext cx="1005840" cy="100584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606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68312" y="2331720"/>
            <a:ext cx="1005840" cy="100584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28432" y="2606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47304" y="2331720"/>
            <a:ext cx="1005840" cy="100584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07424" y="2606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26296" y="2331720"/>
            <a:ext cx="1005840" cy="100584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86416" y="2606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05288" y="2331720"/>
            <a:ext cx="1005840" cy="100584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5288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15-25% of Phase 1 email list converts in pre-sale window.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443484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ROAS  ≥  4.0x  (warm retargeting)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(ticket)  ≤  $8 Tier A  ·  ≤  $12 Tier B/C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 sell-through: 20-35% of capacity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share of city total: ~15%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31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On-sale — T-5 to T-2 weeks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0" cy="109728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Open to public. Scale cold with highest-ROAS creatives from pre-sale.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public on-sale across all ticketing URLs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creative  ·  pause the bottom 30%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retargeting: engagers → video viewers → landing page → checkout starters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inventory report 72h after on-sale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943600" cy="2057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2402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Lookalike 1% + 3% of pre-sale buyers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IG/FB engagers + video 25%+ viewers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Hot: LP visitors 30d + initiate checkout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Exclude: past ticket buyers (last 12 months)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443484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ROAS  ≥  2.5x blended  ·  ≥ 5x retargeting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(ticket)  ≤  $12 Tier A  ·  ≤  $18 Tier B/C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 ≥  35%  of target metro 18-44 Latino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share of city total: ~50%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1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Sustain / Fill — T-2 to show 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0" cy="109728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Close remaining inventory with urgency creative + day-of-show reach.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hooks: "Last tickets", "Sold out in X"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Venue-day-of Reach campaign (radius 10mi)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+ tour footage from prior shows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checkout-abandoners aggressively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creative with CTR &lt; 0.8% or CPA &gt; 2x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943600" cy="2057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UNDER 70% SOLD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2402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daily budget on best-performing campaign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discount-code ad to the email 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Cross-promote from adjacent cities (50-150mi)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radio / influencer boost coordinated w/ Zamora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443484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at show day  ≥  90%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Day-of-show reach in venue radius  ≥  60%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can rise 50% — fill is the priority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share of city total: ~15%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1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AUDIENCES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Cold, warm, hot — seeded from Phase 1 forward.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760720"/>
                <a:gridCol w="210312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PER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Lookalikes of Zamora Live past ticket buyers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400-800k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Lookalikes of pre-sale buyers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800k-1.5M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Reggaetón / Latin urban interest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Spanish-speaking 18-44 in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500k-1M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1,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viewers of the tour teaser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10k+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/ FB page engagers (90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20k+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visitors (30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15k+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started — no purchase (14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2k+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Pre-sale email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Zamora Live cross-artist ticket buyers (365d)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in 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= acquire  ·  WARM = nurture  ·  HOT = close  ·  EXC = exclude. The 365-day exclusion runs against the Zamora Live cross-artist ticket-buyer list (ROA has no prior US buyers).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8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CREATIVE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 + Story always split. ES first, EN as subtitle.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·  FEED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  ·  1080×1350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2560320" cy="320040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HERO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CITY 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VENUE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[CTA]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331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= artist face + date + city in first 1s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CTA: 'GET TICKETS' / 'PRE-SALE AHORA'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/ Zamora Live logo bottom right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 per phase per 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 ·  REELS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 ·  1080×1920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606040"/>
            <a:ext cx="1691640" cy="320040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606040"/>
            <a:ext cx="1691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▲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[SWIPE]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motion — hook ends with date + CTA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 area: avoid top/bottom 250px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IG font subtitles  ·  captions 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vertical cut, not a crop of the feed version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29107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primary copy  ·  EN subtitle overlay  ·  Always split Post + Story  ·  4 variants per phase per city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20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Split by tier and by phase.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MARKET TIER  ·  PER CITY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46304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SHOWS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/ 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/ $13.7K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~$275 /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/ $6.3K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~$140 /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/ $3.0K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~$75 /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PHASE (% OF CITY TOTAL)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 &amp; Announce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03920" y="2377440"/>
            <a:ext cx="2926080" cy="27432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2377440"/>
            <a:ext cx="975360" cy="27432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154680"/>
            <a:ext cx="2926080" cy="27432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3154680"/>
            <a:ext cx="731520" cy="274320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On-sale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03920" y="3931920"/>
            <a:ext cx="2926080" cy="27432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3931920"/>
            <a:ext cx="2438400" cy="274320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47120" y="3886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/ Fill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03920" y="4709160"/>
            <a:ext cx="2926080" cy="274320"/>
          </a:xfrm>
          <a:prstGeom prst="rect">
            <a:avLst/>
          </a:prstGeom>
          <a:solidFill>
            <a:srgbClr val="0E1C1A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4709160"/>
            <a:ext cx="731520" cy="274320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24712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303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BUDGET  ·  ROLLING PER-CITY MODEL</a:t>
            </a:r>
          </a:p>
        </p:txBody>
      </p:sp>
      <p:sp>
        <p:nvSpPr>
          <p:cNvPr id="26" name="Text 23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 ·  ~50 days active  ·  $275/day  ≈  $13,750 / city  ·  8 cities  =  $110,000      Tier B  ·  ~45 days  ·  $140/day  ≈  $6,300 / city  ·  8 cities  =  $50,400      Tier C  ·  ~40 days  ·  $75/day  ≈  $3,000 / city  ·  4 cities  =  $12,000</a:t>
            </a:r>
          </a:p>
        </p:txBody>
      </p:sp>
      <p:sp>
        <p:nvSpPr>
          <p:cNvPr id="27" name="Text 24"/>
          <p:cNvSpPr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working media  ≈  $172,400  ·  Phase mix: 20 / 15 / 50 / 15  ·  Active-day window varies by rolling launch date. Budget flows between cities weekly based on blended ROAS and sell-through pacing.</a:t>
            </a:r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29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KPIs &amp; 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we measure, how often.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51760" cy="109728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2.5x+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  ·  ≥5x retargeting</a:t>
            </a:r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828800"/>
            <a:ext cx="2651760" cy="109728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$12 / $18</a:t>
            </a:r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CEILING  ·  TIER A / B-C</a:t>
            </a:r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28800"/>
            <a:ext cx="2651760" cy="109728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$1.50 / $2.00</a:t>
            </a:r>
          </a:p>
        </p:txBody>
      </p:sp>
      <p:sp>
        <p:nvSpPr>
          <p:cNvPr id="16" name="Text 14"/>
          <p:cNvSpPr/>
          <p:nvPr/>
        </p:nvSpPr>
        <p:spPr>
          <a:xfrm>
            <a:off x="612648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CPL  ·  TIER A / B-C</a:t>
            </a:r>
          </a:p>
        </p:txBody>
      </p:sp>
      <p:sp>
        <p:nvSpPr>
          <p:cNvPr id="17" name="Shape 15"/>
          <p:cNvSpPr/>
          <p:nvPr/>
        </p:nvSpPr>
        <p:spPr>
          <a:xfrm>
            <a:off x="8961120" y="1828800"/>
            <a:ext cx="2651760" cy="18288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1828800"/>
            <a:ext cx="2651760" cy="109728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 90%</a:t>
            </a:r>
          </a:p>
        </p:txBody>
      </p:sp>
      <p:sp>
        <p:nvSpPr>
          <p:cNvPr id="20" name="Text 18"/>
          <p:cNvSpPr/>
          <p:nvPr/>
        </p:nvSpPr>
        <p:spPr>
          <a:xfrm>
            <a:off x="896112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 ·  SHOW DAY</a:t>
            </a:r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47120" cy="237744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CADENCE  ·  Every metric below is pixel + CAPI deduplicated, UTM-tagged, and reconciled against Ticketmaster / Zamora Live settlement data.</a:t>
            </a:r>
          </a:p>
        </p:txBody>
      </p:sp>
      <p:sp>
        <p:nvSpPr>
          <p:cNvPr id="23" name="Shape 21"/>
          <p:cNvSpPr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DAILY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8463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Per-city check — spend, click-through, cost per ticket, ROAS, tickets sold vs pacing.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4389120"/>
            <a:ext cx="3931920" cy="36576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WEEKLY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8463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Per-city summary vs goals. Creative refresh cadence. Top/bottom performers. Budget reallocation proposal for the next 7 days.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4389120"/>
            <a:ext cx="3657600" cy="36576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707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 SHOW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4846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T-72h, T-48h, T-24h, post-show. Sell-through %, final ROAS, cost per ticket, total tickets by source. Post-mortem 48h after the show.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33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Phases stacked on show date. Rolling launch per city.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17025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56611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6196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35782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75367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14953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54538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94124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33709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73295" y="1828800"/>
            <a:ext cx="839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240280"/>
            <a:ext cx="9235440" cy="0"/>
          </a:xfrm>
          <a:prstGeom prst="line">
            <a:avLst/>
          </a:prstGeom>
          <a:noFill/>
          <a:ln w="12700">
            <a:solidFill>
              <a:srgbClr val="2220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 &amp; Announce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542032"/>
            <a:ext cx="2518756" cy="27432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6196" y="3044952"/>
            <a:ext cx="1679171" cy="274320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75367" y="3547872"/>
            <a:ext cx="2518756" cy="274320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/ Fill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4124" y="4050792"/>
            <a:ext cx="1679171" cy="274320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  Creative brief signed  ·  Ticketing URLs live  ·  Tracking ready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   Pre-sale code + landing page email capture live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T-5   Public on-sale + Zamora Live cross-promo activated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   Urgency creative + day-of-show radius reach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+48h  Post-show report + creative + audience learnings passed to next 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29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ROA — artist dossier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4754880" cy="4343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754880" cy="109728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Gilberto Figueroa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Naranjito, Puerto Rico  ·  Universal Music Latino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Latin Artist on the Rise  ·  Feb 2026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Lo Nuestro 2026  ·  Best Male New Artist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 LP ~70% done  ·  likely drops on-tour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lists no US shows  ·  these ads = first announce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011680" cy="14173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828800"/>
            <a:ext cx="201168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13.8M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MONTHLY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35240" y="1828800"/>
            <a:ext cx="2011680" cy="14173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828800"/>
            <a:ext cx="2011680" cy="73152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~2.0M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3524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@ROAPR__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784080" y="1828800"/>
            <a:ext cx="2011680" cy="141732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1828800"/>
            <a:ext cx="2011680" cy="73152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742K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8408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PAGE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@ROA.PR__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429000"/>
            <a:ext cx="6263640" cy="27432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TRACKS  ·  LEAD WITH THESE HOOKS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3886200"/>
          <a:ext cx="58521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41605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YOGURCITO REMIX  (Kris R. feat. ROA)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- RMX  (w/ De La Rose, Luar La L, O. Courtz)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GUSTAS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FANTASÍA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 OH OH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29107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SEEDS: Omar Courtz, Dei V, Bryant Myers, Luar La L, Chris Jedi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28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Market reality — creative cut by 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82880" cy="91440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PR-HEAVY DIASPORA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Orlando  ·  Philly  ·  NYC  ·  Providence  ·  Reading  ·  Boston  ·  Chicago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island identity. 'Orgullo boricua.' ES-primary. Use ETA RMX / YOGURCITO hooks.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Orlando: 387K PR  ·  15% of metro  ·  Osceola Co. is plurality-PR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82880" cy="914400"/>
          </a:xfrm>
          <a:prstGeom prst="rect">
            <a:avLst/>
          </a:prstGeom>
          <a:solidFill>
            <a:srgbClr val="E4521E"/>
          </a:solidFill>
          <a:ln w="12700">
            <a:solidFill>
              <a:srgbClr val="E452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45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PAN-LATINO URBAN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Miami  ·  Tampa  ·  Atlanta  ·  DC  ·  Charlotte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Pan-Caribbean reggaetón. Not island-specific — Cuban / Venezuelan / Salvadoran majority.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3108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 Salvadoran-dominant  ·  PR ~3-4% of metro  ·  CPM for PR-ID users higher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182880" cy="914400"/>
          </a:xfrm>
          <a:prstGeom prst="rect">
            <a:avLst/>
          </a:prstGeom>
          <a:solidFill>
            <a:srgbClr val="1E6F65"/>
          </a:solidFill>
          <a:ln w="12700">
            <a:solidFill>
              <a:srgbClr val="1E6F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MEXICAN-DOMINANT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389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Fresno  ·  Dallas  ·  Denver  ·  LA  ·  San Jose  ·  Houston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reggaetón. Do NOT lead PR-identity. Houston slightly more Caribbean-tolerant than DFW.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Escapade 2001 brand = 'regional mexicana' — genre pivot risk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20640"/>
            <a:ext cx="182880" cy="914400"/>
          </a:xfrm>
          <a:prstGeom prst="rect">
            <a:avLst/>
          </a:prstGeom>
          <a:solidFill>
            <a:srgbClr val="F5F3EC"/>
          </a:solidFill>
          <a:ln w="12700">
            <a:solidFill>
              <a:srgbClr val="F5F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LATINO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Columbus  ·  Minneapolis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radius 75mi. Super-fan + streaming lookalikes. OSU / Twin Cities college Latino 18-24.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5303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Minneapolis: 6-10% Latino metro  ·  smallest on tour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30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August leg — flags by 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393192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6  ·  NYC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Palladium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MLB Yanks/Mets TBD  ·  SummerStage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MLB Aug 6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7  ·  Philadelphia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Music Hall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Phillies home TBD  ·  Eagles preseason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geo-exclude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8  · 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PAC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PR Fest early Aug  ·  TAILWIND possible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fest 2026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13  ·  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Nats + DC United at Audi Field adjacent  · 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Salvadoran market, cut creative pan-Latino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14  ·  Boston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Lynn Auditorium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Sox + Pats preseason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geo-overlap w/ Providence next night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15  ·  Providence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Sox + Mohegan Sun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has highest per-cap PR  ·  strong lane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21  ·  Chicago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 Fest mid-late Aug possible  ·  MLB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Paseo Boricua / Humboldt Park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22  ·  Columbus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OSU home opener TBD  ·  club-format 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cap + age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28  ·  Charlotte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Ovens Auditorium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CFB Wk 1 Fri night game likely (UNC/NCSU/Clem)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Mexican/Central Am. heavy — not PR 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29  ·  Atlanta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 Coliseum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RISK: Chick-fil-A Kickoff likely downtown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matchup  ·  avoid downtown-adj placements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September leg — flags by 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393192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3  ·  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CFB Sat 9/5  ·  Hollywood Bowl low-overlap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Thu  ·  Labor Day soft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4  ·  Fresno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Rainbow Ballroom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DAY weekend start  ·  no CFB conflict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T-21 to T-10  ·  'quédate en Fresno'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5  ·  San Jose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 Event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 vs UCLA 40mi  ·  Labor Day Sat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Sat 5-8pm ad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10  ·  Miami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 Bandshell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HURRICANES football Hard Rock  ·  HURRICANE peak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weather-contingency pack  ·  rain-date copy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11  ·  Orlando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Rock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9/11 25th ANNIVERSARY  ·  Frontera 9/12 Kia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ads Sep 12 AM  ·  tone check  ·  weight 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12  ·  Tampa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Jannus or Ritz Ybor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Strokes at Benchmark  ·  Rays home vs Astros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TBD  ·  PR east suburbs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17  ·  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+ city 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research until routing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18  ·  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Escapade 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Rangers home  ·  Mex. Independence TAILWIND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genre-pivot creative  ·  'concert not club'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19  ·  Houston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Oak LAWN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Astros home  ·  outdoor weather  ·  Mex. Ind. TAILWIND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6-9pm downtown  ·  push rideshare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25  ·  Denver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Stampede, Aurora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Rockies away  ·  CFB Sat 9/26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Havana Corridor tight geo  ·  verify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26 · Minneapolis (Maplewood)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E6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Twins home/away TBD  ·  CFB Sat clear evening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B10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widen radius 75mi  ·  super-fan targeting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7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1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6D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Pre-launch +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73152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31314"/>
          </a:solidFill>
          <a:ln w="12700">
            <a:solidFill>
              <a:srgbClr val="2220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solidFill>
            <a:srgbClr val="07070A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approved  ·  4 posts + 4 stories per city, ES primary + EN subtitles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274320" cy="274320"/>
          </a:xfrm>
          <a:prstGeom prst="rect">
            <a:avLst/>
          </a:prstGeom>
          <a:solidFill>
            <a:srgbClr val="07070A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15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6700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  ·  email + SMS capture  ·  pre-sale code delivery verified end-to-end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274320" cy="274320"/>
          </a:xfrm>
          <a:prstGeom prst="rect">
            <a:avLst/>
          </a:prstGeom>
          <a:solidFill>
            <a:srgbClr val="07070A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74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0E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3284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 ·  Meta Pixel + CAPI deduped  ·  UTM taxonomy locked  ·  Ticketmaster attribution reconciled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solidFill>
            <a:srgbClr val="B10E1F"/>
          </a:solidFill>
          <a:ln w="12700">
            <a:solidFill>
              <a:srgbClr val="B10E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9107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Confirm ticketing on-sale dates per city  ·  Sign off budget  ·  Lock creative brief  ·  Kickoff T-10 for NYC on  ~  May 28,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·  US TOUR 2026</a:t>
            </a:r>
            <a:endParaRPr lang="en-US" sz="900" dirty="0"/>
          </a:p>
        </p:txBody>
      </p:sp>
      <p:pic>
        <p:nvPicPr>
          <p:cNvPr id="18" name="Image 0" descr="/Users/jaimeortiz/outlet-media-app/.claude/worktrees/relaxed-cartwright-cc4d73/decks/assets/zamora-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378440" y="6446520"/>
            <a:ext cx="868680" cy="37490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486400" cy="4297680"/>
          </a:xfrm>
          <a:prstGeom prst="roundRect">
            <a:avLst/>
          </a:prstGeom>
          <a:solidFill>
            <a:srgbClr val="12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51206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400">
                <a:solidFill>
                  <a:srgbClr val="E83A3A"/>
                </a:solidFill>
                <a:latin typeface="Calibri"/>
              </a:rPr>
              <a:t>ROLLOUT  ·  FIRST 10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4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MAY 28  ·  NYC kickoff  ·  Tease begins T-10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2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JUN — JUL  ·  NE cluster  ·  NYC / Philly / Reading / DC / Boston / Providence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0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JUL  ·  Midwest + SE  ·  Chicago / Columbus / Charlotte / Atlanta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8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LATE JUL  ·  West  ·  LA / Fresno / San Jose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6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AUG  ·  FL triangle  ·  Miami / Orlando / Tampa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4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LATE AUG  ·  TX + Mountain  ·  Dallas / Houston / Denver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20000"/>
            <a:ext cx="512064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EE4D4"/>
                </a:solidFill>
                <a:latin typeface="Calibri"/>
              </a:rPr>
              <a:t>SEP  ·  Minneapolis close-out  ·  Final Sustain + post-mortem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60000"/>
            <a:ext cx="5120640" cy="14000"/>
          </a:xfrm>
          <a:prstGeom prst="rect">
            <a:avLst/>
          </a:prstGeom>
          <a:solidFill>
            <a:srgbClr val="5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150000"/>
            <a:ext cx="5120640" cy="3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E83A3A"/>
                </a:solidFill>
                <a:latin typeface="Calibri"/>
              </a:rPr>
              <a:t>APPROVALS NEEDED BEFORE T-10  ·  NYC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70000"/>
            <a:ext cx="51206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CFC7B8"/>
                </a:solidFill>
                <a:latin typeface="Calibri"/>
              </a:rPr>
              <a:t>Ticketing on-sale  ·  Budget sign-off  ·  Creative lock  ·  Pixel/CAPI on each 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 US Tour 2026 — Ads Playbook</dc:title>
  <dc:subject>PptxGenJS Presentation</dc:subject>
  <dc:creator>PptxGenJS</dc:creator>
  <cp:lastModifiedBy>PptxGenJS</cp:lastModifiedBy>
  <cp:revision>1</cp:revision>
  <dcterms:created xsi:type="dcterms:W3CDTF">2026-04-21T22:28:41Z</dcterms:created>
  <dcterms:modified xsi:type="dcterms:W3CDTF">2026-04-21T22:28:41Z</dcterms:modified>
</cp:coreProperties>
</file>