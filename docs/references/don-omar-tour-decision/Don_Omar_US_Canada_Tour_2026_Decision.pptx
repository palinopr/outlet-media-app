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facb00eeb64c67" /><Relationship Type="http://schemas.openxmlformats.org/officeDocument/2006/relationships/extended-properties" Target="/docProps/app.xml" Id="R92eadfc000ba473d" /><Relationship Type="http://schemas.openxmlformats.org/officeDocument/2006/relationships/officeDocument" Target="/ppt/presentation.xml" Id="R76e858c9ee9045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4e577094d4eff"/>
  </p:sldMasterIdLst>
  <p:notesMasterIdLst>
    <p:notesMasterId xmlns:r="http://schemas.openxmlformats.org/officeDocument/2006/relationships" r:id="R680068f843ec4456"/>
  </p:notesMasterIdLst>
  <p:sldIdLst>
    <p:sldId xmlns:r="http://schemas.openxmlformats.org/officeDocument/2006/relationships" id="256" r:id="R73121522980a4542"/>
    <p:sldId xmlns:r="http://schemas.openxmlformats.org/officeDocument/2006/relationships" id="257" r:id="Ra42d84bf5bed48c1"/>
    <p:sldId xmlns:r="http://schemas.openxmlformats.org/officeDocument/2006/relationships" id="258" r:id="Rda35556fcade4b0c"/>
    <p:sldId xmlns:r="http://schemas.openxmlformats.org/officeDocument/2006/relationships" id="259" r:id="R599bb57a16984a63"/>
    <p:sldId xmlns:r="http://schemas.openxmlformats.org/officeDocument/2006/relationships" id="260" r:id="R5e1158ded8c34481"/>
    <p:sldId xmlns:r="http://schemas.openxmlformats.org/officeDocument/2006/relationships" id="261" r:id="R9d397c6e4a7745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4e577094d4eff" /><Relationship Type="http://schemas.openxmlformats.org/officeDocument/2006/relationships/theme" Target="/ppt/theme/theme1.xml" Id="R09b7624a095742e9" /><Relationship Type="http://schemas.openxmlformats.org/officeDocument/2006/relationships/notesMaster" Target="/ppt/notesMasters/notesMaster1.xml" Id="R680068f843ec4456" /><Relationship Type="http://schemas.openxmlformats.org/officeDocument/2006/relationships/presProps" Target="/ppt/presProps.xml" Id="R3bbc87d20c4e4706" /><Relationship Type="http://schemas.openxmlformats.org/officeDocument/2006/relationships/viewProps" Target="/ppt/viewProps.xml" Id="R8155e4e949854186" /><Relationship Type="http://schemas.openxmlformats.org/officeDocument/2006/relationships/tableStyles" Target="/ppt/tableStyles.xml" Id="R51df1494aff943da" /><Relationship Type="http://schemas.openxmlformats.org/officeDocument/2006/relationships/slide" Target="/ppt/slides/slide1.xml" Id="R73121522980a4542" /><Relationship Type="http://schemas.openxmlformats.org/officeDocument/2006/relationships/slide" Target="/ppt/slides/slide2.xml" Id="Ra42d84bf5bed48c1" /><Relationship Type="http://schemas.openxmlformats.org/officeDocument/2006/relationships/slide" Target="/ppt/slides/slide3.xml" Id="Rda35556fcade4b0c" /><Relationship Type="http://schemas.openxmlformats.org/officeDocument/2006/relationships/slide" Target="/ppt/slides/slide4.xml" Id="R599bb57a16984a63" /><Relationship Type="http://schemas.openxmlformats.org/officeDocument/2006/relationships/slide" Target="/ppt/slides/slide5.xml" Id="R5e1158ded8c34481" /><Relationship Type="http://schemas.openxmlformats.org/officeDocument/2006/relationships/slide" Target="/ppt/slides/slide6.xml" Id="R9d397c6e4a7745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c568459bc6148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dd87a56164ce7" /><Relationship Type="http://schemas.openxmlformats.org/officeDocument/2006/relationships/notesMaster" Target="/ppt/notesMasters/notesMaster1.xml" Id="R62dc7afa2ffc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d8ccda4b3d4f12" /><Relationship Type="http://schemas.openxmlformats.org/officeDocument/2006/relationships/notesMaster" Target="/ppt/notesMasters/notesMaster1.xml" Id="R0c2811ed4b664d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775e11886b45b4" /><Relationship Type="http://schemas.openxmlformats.org/officeDocument/2006/relationships/notesMaster" Target="/ppt/notesMasters/notesMaster1.xml" Id="R40198fc9326945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0373e8c57842f1" /><Relationship Type="http://schemas.openxmlformats.org/officeDocument/2006/relationships/notesMaster" Target="/ppt/notesMasters/notesMaster1.xml" Id="R7a7a2df841ab4b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61c6fa0c274bac" /><Relationship Type="http://schemas.openxmlformats.org/officeDocument/2006/relationships/notesMaster" Target="/ppt/notesMasters/notesMaster1.xml" Id="Rd62d901d26e146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4c018786014245" /><Relationship Type="http://schemas.openxmlformats.org/officeDocument/2006/relationships/notesMaster" Target="/ppt/notesMasters/notesMaster1.xml" Id="Rbe20a4bb6a33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3b6ab1d234a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742b4cb7b314d77" /><Relationship Type="http://schemas.openxmlformats.org/officeDocument/2006/relationships/slideLayout" Target="/ppt/slideLayouts/slideLayout2.xml" Id="R820ebe25cc0542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ebe25cc0542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813acefadb4824" /><Relationship Type="http://schemas.openxmlformats.org/officeDocument/2006/relationships/image" Target="/ppt/media/image.png" Id="Re0bf77a0309b465e" /><Relationship Type="http://schemas.openxmlformats.org/officeDocument/2006/relationships/image" Target="/ppt/media/image2.png" Id="Rb9a3951414b34f3f" /><Relationship Type="http://schemas.openxmlformats.org/officeDocument/2006/relationships/notesSlide" Target="/ppt/notesSlides/notesSlide1.xml" Id="R0836217f0c6240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4dee301ff4533" /><Relationship Type="http://schemas.openxmlformats.org/officeDocument/2006/relationships/image" Target="/ppt/media/image3.png" Id="R2ebfccd8f20f4448" /><Relationship Type="http://schemas.openxmlformats.org/officeDocument/2006/relationships/notesSlide" Target="/ppt/notesSlides/notesSlide2.xml" Id="Rbcd81cf9fad247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0b614c27a41e4" /><Relationship Type="http://schemas.openxmlformats.org/officeDocument/2006/relationships/image" Target="/ppt/media/image4.png" Id="R940c9b1ce9584f17" /><Relationship Type="http://schemas.openxmlformats.org/officeDocument/2006/relationships/notesSlide" Target="/ppt/notesSlides/notesSlide3.xml" Id="R72fdce3f90ac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97c2dd5144870" /><Relationship Type="http://schemas.openxmlformats.org/officeDocument/2006/relationships/image" Target="/ppt/media/image5.png" Id="R7d6f1e472e744946" /><Relationship Type="http://schemas.openxmlformats.org/officeDocument/2006/relationships/notesSlide" Target="/ppt/notesSlides/notesSlide4.xml" Id="R41ec0f4f96bc44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bedf823f84abd" /><Relationship Type="http://schemas.openxmlformats.org/officeDocument/2006/relationships/image" Target="/ppt/media/image6.png" Id="R9430c0a917754ab7" /><Relationship Type="http://schemas.openxmlformats.org/officeDocument/2006/relationships/image" Target="/ppt/media/image7.png" Id="R4bdaf6dbe10148df" /><Relationship Type="http://schemas.openxmlformats.org/officeDocument/2006/relationships/image" Target="/ppt/media/image8.png" Id="R405c3cff0312406d" /><Relationship Type="http://schemas.openxmlformats.org/officeDocument/2006/relationships/notesSlide" Target="/ppt/notesSlides/notesSlide5.xml" Id="R47f57c1247f148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cdd8aa1ff44d1a" /><Relationship Type="http://schemas.openxmlformats.org/officeDocument/2006/relationships/image" Target="/ppt/media/image9.png" Id="R18412f2098984186" /><Relationship Type="http://schemas.openxmlformats.org/officeDocument/2006/relationships/notesSlide" Target="/ppt/notesSlides/notesSlide6.xml" Id="R7e3f5c12ae9d48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EC31E-EFD9-4AD2-B500-C15B0011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84C8F-5425-4BB9-89B4-0E766B2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F44CA-2B42-4463-AB90-6EE70E5C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CAFC5-D155-46B0-A420-AED25CC8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3405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f77a0309b465e"/>
          <a:stretch xmlns:a="http://schemas.openxmlformats.org/drawingml/2006/main"/>
        </p:blipFill>
        <p:spPr>
          <a:xfrm xmlns:a="http://schemas.openxmlformats.org/drawingml/2006/main">
            <a:off x="633809" y="419100"/>
            <a:ext cx="1342233" cy="381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3951414b34f3f"/>
          <a:stretch xmlns:a="http://schemas.openxmlformats.org/drawingml/2006/main"/>
        </p:blipFill>
        <p:spPr>
          <a:xfrm xmlns:a="http://schemas.openxmlformats.org/drawingml/2006/main">
            <a:off x="9886950" y="913613"/>
            <a:ext cx="1143000" cy="9921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C88B3-894F-4559-A104-8B2C1FA0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BC7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BC7FF"/>
                </a:solidFill>
                <a:latin typeface="Avenir Next"/>
                <a:ea typeface="Avenir Next"/>
                <a:cs typeface="Avenir Next"/>
              </a:rPr>
              <a:t>DON OMAR USA/CANADA TOUR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95F84-258B-49A5-AAEE-8AC102DF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media case for taking the 2026 tour.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ABF79-89B7-49D8-AE8A-C95310C3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600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A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E7EAF5"/>
                </a:solidFill>
                <a:latin typeface="Avenir Next"/>
                <a:ea typeface="Avenir Next"/>
                <a:cs typeface="Avenir Next"/>
              </a:rPr>
              <a:t>Prior tour ad spend converted into profitable ticket revenue across two legs. The next ask should be framed around earlier access, market sequencing, and a tighter city-by-city budget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8D24D-1DF9-4590-988E-A294B588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21BFF-F696-4E36-8EAB-93587573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30646-7326-46CE-9841-81F56FB0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$92.7k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1351C-E971-458B-B334-3384DC6B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2E2E8-A356-4304-AA2B-AF9915D7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All USA/Canada tour campaigns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33E2F-DAEC-49D6-A031-ACEBDF7E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1965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FDC2D-F137-4D49-A5C1-340D97A4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196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B7366-A42A-405F-AC9C-2A825F98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91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$402.5k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F513A-9698-4DCE-98FE-7E10559C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9115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D9DAF-6B0D-4A85-8D95-0BB804A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19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Tracked purchase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ACFA9-C7A0-4271-AB81-FB8570D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1962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C608F-8D1F-45C0-A0F9-E30B3085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25659-140A-4145-A745-4CA6C1E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91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28265-B2A3-4A08-8ED8-941E0601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9115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221F4-BC6E-48BC-9F8A-1DBD317B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19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Blended purchase return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8F3DB-E870-4272-8344-4528550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BC7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BC7FF"/>
                </a:solidFill>
                <a:latin typeface="Avenir Next"/>
                <a:ea typeface="Avenir Next"/>
                <a:cs typeface="Avenir Next"/>
              </a:rPr>
              <a:t>2026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48DB4-D5E5-42FE-9862-7C386C20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YES - WITH CONDITIONS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00D05-40B7-444E-A4B4-9C6D5C15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The proof is strong enough to pursue the tour, but the later leg shows why Outlet should control pacing earlier in the cycle.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9C345C-E1DD-4B3F-8CD5-85EE8CCC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E42AC-4CB9-4254-A029-A3309F1A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Meta Marketing API v21.0, date_preset=maximum. Ads Manager UI showed Maximum: Apr 11, 2023 - May 11, 2026.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9A781A-C3E4-4D34-BF7F-88E2ADCF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85898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94F1C-381B-4C56-9B84-04B759E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5C18B4E-69B3-4C43-B498-5B94044E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5437D5-F956-4038-B219-DA25293B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PERFORMANCE PROOF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fccd8f20f4448"/>
          <a:stretch xmlns:a="http://schemas.openxmlformats.org/drawingml/2006/main"/>
        </p:blipFill>
        <p:spPr>
          <a:xfrm xmlns:a="http://schemas.openxmlformats.org/drawingml/2006/main">
            <a:off x="9944100" y="431154"/>
            <a:ext cx="1257300" cy="35689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DB3FB-2A3D-4445-B1C8-E6D62511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The prior tour produced a real ticket-revenue engine, not just cheap traffic.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039D9-27C5-4629-99AB-60F78A8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The corrected purchase count uses Meta purchase actions only, with value from purchase action_values / purchase ROAS.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F4595-0160-49CE-B939-AA588F6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75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4B8C7-AE2B-4474-880D-0FF5E370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75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CF018-00D3-46FB-91FF-D02CACD3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$92.7k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81F94-4B81-4824-88CF-6841B5CA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OVERALL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959C7-EBC0-4F2F-945A-D0340EBD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USA/Canada tour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5AB65-15E6-477E-A24D-98E0A1B9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175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03065-3409-4FE1-A9E0-395FB70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175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E5F26-8FB2-4478-AEA3-04CA272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C1B08-AF00-4D28-85D4-570F75EA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REVENUE MADE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7394C-9391-4C92-A972-6E31A9D8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99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Tracked purchase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03394-CE3C-48AD-938B-36340F54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175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5A2AA-5429-4110-BA0B-DC365D8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175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089C7-037B-43D7-A782-74CC0E04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1,716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90528-97E3-4663-AEB5-42DE626A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1CCB9-5C75-449B-958F-AB6B21C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$54 cost / purchase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D8AF1-BFB8-443B-97A6-50D3B12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175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B65FB-1100-4CB4-AB09-9884035A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175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E6175-B31E-40C3-B831-34BBBC59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05782-3DA0-426A-8DE0-7194ACD4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420ED-858D-4397-9F17-EB80F771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Blended purchase ROAS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EA987-301C-4B41-90C4-6330C553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175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44554-8FCE-4AB0-BBE4-7C03A267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175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7CDE8-2D9B-4A52-AE7B-990B4F63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3.64M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60C04-744F-4F15-9DC1-37C739F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AEE7E-04D6-4898-9759-3C70FADF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Account-level aggregate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195E6-F3FC-49DA-8D79-C5470D21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75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4392BC-A417-4A87-85C4-1D878568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75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ADFB18-84FE-41C7-86E7-125A1DF4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13.83M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27A0BC-09CC-47E0-93E3-180EB372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81300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IMPRESSIONS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EEA30E-1839-4462-BB04-C5C646C9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099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3.8 frequency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3441FF-65F2-4173-BAA4-53DD8FF9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30308A-7508-4280-97F4-935D7393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Traffic quality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62065C-7D75-4FC6-ADE3-EF55BE9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The account delivered both scale and efficient attention: 311k total clicks, 145k inline link clicks, and a 2.25% CTR on 13.8M impressions.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EEEB3B-C462-4D5F-9637-6FD259F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AB43AB-BD56-4196-BCF5-33681409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6717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38072A-72D5-44F9-AB78-D9CC09E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67175"/>
            <a:ext cx="214259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576E71-FCF3-442C-B295-A28620E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290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2.25%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02EBF5-4343-43EF-98C4-66DE0B3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Link CTR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15043D-F6FE-4D91-9D3A-896BA461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8627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F62353-67F4-4AAA-A238-08196518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86275"/>
            <a:ext cx="19974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260D11-7A5D-4EE7-BCD4-0F1ACF29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481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1.05%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AFB77B-1B26-4355-A7DB-EBC86372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CPM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39A736-0CE6-498D-95EE-C0BF635E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0537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B0A406-4D11-419C-989F-557ED1E9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05375"/>
            <a:ext cx="942506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646562-9CC8-418A-BAF9-1D7BB459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8D82FA-EEFE-45E1-BBE9-6B4CB01C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95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CPC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049967-8035-43B6-A82F-0A86D8F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2447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6E09F3-55FC-4633-B737-08544651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24475"/>
            <a:ext cx="200617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145C55-AAA6-4BB2-AC75-9A1338DC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863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E2D739-107D-407A-8E29-D5D4B4EB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B18120-AD25-45D6-ADA4-C6A14D31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Meta Marketing API v21.0, date_preset=maximum. Ads Manager UI showed Maximum: Apr 11, 2023 - May 11, 2026.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8072AF-11E5-471D-9D87-B2B53675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91447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E383F-DBD3-488A-B35F-BC8AF334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8A00B75-035B-4904-BD64-507CA732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407C5B-74E0-4E5D-94BC-2103C1D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LEG ECONOMICS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c9b1ce9584f17"/>
          <a:stretch xmlns:a="http://schemas.openxmlformats.org/drawingml/2006/main"/>
        </p:blipFill>
        <p:spPr>
          <a:xfrm xmlns:a="http://schemas.openxmlformats.org/drawingml/2006/main">
            <a:off x="9944100" y="431154"/>
            <a:ext cx="1257300" cy="35689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870B1-E810-4980-99FF-E6CA7021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Leg 1 was the clean proof. The later leg stayed profitable, but the economics tightened.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CB4B4-F460-4ECF-A77F-150CE6B8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This is the operating lesson for 2026: win the brief earlier, sequence markets, and avoid catching demand too late.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D8130-1C5F-4A54-B32D-5992B899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Leg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0D95F-8CBA-4ABB-BF48-A9C4C336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003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835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6835B"/>
                </a:solidFill>
                <a:latin typeface="Avenir Next"/>
                <a:ea typeface="Avenir Next"/>
                <a:cs typeface="Avenir Next"/>
              </a:rPr>
              <a:t>4.96x ROAS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E7685-F9AB-41E0-9A11-79C92FB5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Revenue made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F58BE-92C2-4B9B-A94E-DF70F6EC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E2F7F-F5E4-436A-B666-D8D4B47B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B4CFB-56E3-40D4-9C59-26AA29D0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956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$311k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AF506-B7AF-4805-A698-076C7A58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C44B7-AF0B-4EDE-9CF9-BDD9FDF7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BCC1A-F6E4-4611-A473-0508C028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ACFE5-2E22-415F-AECC-5D57150C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$62.7k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2214D-E2FF-4632-BFC9-396BE59F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0A748-C754-41D6-91E0-28446F6D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A86F7-886B-48F2-B94B-9E0CC18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B0CF1-4BAA-4233-A480-284A8106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1,333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81CCA-E0C1-4B35-9098-BAD261D6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2E89A-F5CF-474E-93D8-60DECAF6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230E4-3A99-471E-B147-F84D0E62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120166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A9B8E-BED1-43A2-AB28-4B999B71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2.04%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7909E-9F6D-4C17-997D-FCBD4C8A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Cost per purchase: $47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DC942-561D-4592-B845-079D323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D4027-4277-4D94-8565-AFD94DB1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62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Leg 2 / later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5F54C4-5E3B-46A8-B474-92372450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21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821D"/>
                </a:solidFill>
                <a:latin typeface="Avenir Next"/>
                <a:ea typeface="Avenir Next"/>
                <a:cs typeface="Avenir Next"/>
              </a:rPr>
              <a:t>3.09x ROAS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403B86-D296-49AA-B392-A0F6310E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Revenue made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2D442-3AEF-4AC4-9EA1-17142D9D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424A1-E734-4087-90DD-C240F13B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53850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032AB-9E89-4D1D-A44E-FF392B6A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956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$91.6k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70FC4E-FD53-4A27-88CF-B4A9E1B3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436F96-44B9-42B3-95FD-F9D90247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A19335-CCE5-4F7D-8695-48B78C8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86639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816FE5-9BE8-4749-97BD-70F7E1DC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337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$29.7k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7E4FDA-46DB-460F-A052-E8DEFB7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B2F28B-C60E-42AD-BD95-92DA314B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000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E967BE-8567-4C49-B39D-7FCEA15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0000"/>
            <a:ext cx="52545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57795A-B290-40CA-BCE3-80CC9DE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7719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383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A32FE3-6314-4B37-A238-F0AC2EE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63C0C7-ACDC-40B8-BB07-393C374A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481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BF2016-B400-47AE-AB12-3CAB6BA0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48150"/>
            <a:ext cx="1724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33A2F3-B9C7-4827-B252-C151A2A8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100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2.92%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9C124A-3F90-4B0B-AFB0-63941F8A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Cost per purchase: $77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0D4DD7-A502-4F23-A8FB-8EE8A8CB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458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C335E9-E94A-49C7-BF5C-23E3B937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Readout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D1C600-A631-4E30-9435-18F09CA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1975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Leg 2 kept a positive 3.09x return, but cost per purchase rose from $47 to $77. The 2026 pitch should sell earlier access and market planning as the performance lever.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FE1166-A30A-49E3-A021-8CA09EAC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8CE21D-CD9F-4168-BDF8-30A5CE65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Meta Marketing API v21.0, date_preset=maximum. Ads Manager UI showed Maximum: Apr 11, 2023 - May 11, 2026.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39C50D-DAC8-4F21-B481-5F554636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13669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9CD92-EAF6-49A4-81AD-01F2F37D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57A14F-69F4-4A48-B113-7A1F60C5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2A23E2-3D3D-490E-ADB0-F8188C95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ACCOUNT + CAMPAIGN EVIDENCE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f1e472e744946"/>
          <a:stretch xmlns:a="http://schemas.openxmlformats.org/drawingml/2006/main"/>
        </p:blipFill>
        <p:spPr>
          <a:xfrm xmlns:a="http://schemas.openxmlformats.org/drawingml/2006/main">
            <a:off x="9944100" y="431154"/>
            <a:ext cx="1257300" cy="35689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CCBA5-6F5C-4FC7-B2A2-83A176C7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A4 was the efficiency engine; AA1 added volume and higher click engagement.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FDE9B-A172-47BF-BE4D-8A9A9286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The data supports a full-tour ask, but 2026 should separate market launch, retargeting, and late-city rescue budgets.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44F84-186E-4366-89DF-40CD46D1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038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C7E31-C150-4EAF-8516-2C9C1390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Account / campaign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ED3CD-2374-48B4-906B-AC3F506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5063A-7987-4B1A-863B-5EA36E02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904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05522-BABE-4E47-B61F-967D34C0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109FA-024E-4B90-B216-04B47CC5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454F0-1222-4D6A-B7A6-96F9F09A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526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A8E52-B87E-41C6-A544-ED51183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79667-A9F9-4ADD-BB50-FD365779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526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71E28-81BB-438E-9888-13A5FE6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B5BEA-E699-4D4A-A01B-A6B7F105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20B9F-F632-4397-A1F4-C024F85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A4 account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B59DF-1134-4903-8B14-4BBBF48E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$41.5k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CA7C7-A0D6-49F5-872F-865762D8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$238k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65F877-3AA3-4CB2-94C8-2E858129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886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6A49C-B935-49CB-9146-504A9E37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2.07M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B8B46-18A4-4370-BD4C-0EB2467B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1.94%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5494F-3445-44E4-B278-EC8A8137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5.72x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49FF1-B203-4F93-A7FD-8AAF480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$47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FE200-8D90-485A-A5B4-BF5937D3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B2C3D9-0C03-4929-A3A8-7B61E803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AA1 account total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A4EF9E-AAD8-4D3C-9EC3-A83ACDAF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$51.2k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83622-93DE-4ECA-B0D6-5FDAE68F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2895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$165k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946D2-63E1-4142-A5E1-5F4B66B0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830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874E27-0538-45CA-9297-E04F5277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1.57M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C3BDD-98A6-4368-B528-37ED0BDD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2.60%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4D3898-C429-41D0-AA92-2D00D4FD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3.22x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DDA5B1-FD39-40C6-8EFE-1410A5C8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$62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1EFF34-72B7-4470-AEA7-2AE370F9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038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4B18D7-741E-448F-828C-80EF2825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Account / campaign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D01950-F650-4B2B-91C8-07331CC6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1BC214-B6AB-4106-B0BB-A22E7F5D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57600"/>
            <a:ext cx="904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216D05-B3A2-4663-BB2F-81523FFB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D4B0A5-B9FF-4D5E-9D8A-E9B0C40F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576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39D9AE-8DD4-4780-B8AF-1957DE32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69B494-7359-46C6-AF5D-076A053A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12976A-432C-45F2-8E82-0DA7709E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57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CPP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9C0C79-7A31-4096-9F95-066FBF74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C61F57-87AE-4868-8EC6-AB5001BB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A4 - Don Omar Tour Sales - MAIN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B09C2B-1192-4775-A067-380591DD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$35.2k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AE920D-A5AC-4A33-BC9F-053F03FA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7670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$215k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D13249-02CF-447B-86A3-FB993218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816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2EFBDE-372F-4593-BEC6-49308967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767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1758k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240DC2-F696-4C2E-80BE-745A88FA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76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1.83%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2AD910-3FA5-49D1-9D66-8E4103FD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76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6.12x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F92C01-6288-4B6F-A853-EFB8FFC8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76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$43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E2B9E1-843F-4B6B-B940-33A77625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11B1F9-2F24-4598-BE46-0FBA77A0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55153A-3442-46A7-8251-51A8B856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AA1 - Don Omar - Tour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B94055-9590-4ABD-A2D0-6C220D06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$27.5k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60E630-EE8C-48F8-9B83-5147E71C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5770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$95.9k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900B26-DC4D-4B88-BB2C-1A24250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517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7A67BA-8D0C-41BE-8BFF-C65A06CA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738k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156DA6-B6AC-457C-A48C-985EA692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57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2.38%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453435-531B-4CD6-A91C-D246F99C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3.49x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89BA87-A742-4518-9BC0-13F15FCE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57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$53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D226A9-B123-44B8-A13E-B795DD1F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F68DA3-2F8F-4AE8-9E09-154E9AA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AA1 - Don Omar Tour - Part 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200728-381B-460B-8407-46EF89D6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387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$23.7k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6336C1-1787-4E32-AFBE-8B9ED54B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3870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$68.9k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F92822-DBED-4228-AAF9-C8062ED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313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C58B38-6D61-42B4-8186-9EDFA905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387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909k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3FDDFE-9DA7-4514-B678-20EB3AF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38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2.96%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E42CAC-6157-4CD5-AC3A-9F93CB7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2.91x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21346F1-6241-454E-8020-9FB0297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38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$76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BE5BFF-A8D4-4C5C-8F52-8B83A762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3397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0ECCFA-A121-4F96-A5F2-4F053880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70182B-D420-42F3-898A-73075262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A4 - Don Omar - Main 2 Leg Tour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AF5A1E-52F9-4928-8CC9-4AC2EF80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$6.0k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A8CA95-8E5F-47F1-97DB-9E9EDB9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1970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$22.7k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D2F4A8-63B5-4951-8DD3-2C46D1B2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70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F7DCEE-38AE-448B-BF99-1A0CCF7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197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266k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47CE09-D8EA-4F9A-8770-86D55C95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2.82%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B56207-AC05-4242-BC37-3FF3DB42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19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3.77x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9F205F2-1724-40B7-AAFF-3078476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$86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BAEC4D-0F66-4038-81B2-3DBD66DD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Note: reach is deduped inside each account-level aggregate, then summed across A4 + AA1 because cross-account deduping is not available from this pull.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649BA1D-02BA-43BD-9F70-038CF74B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8EBA71-7DAD-423F-BE35-24135E13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Meta Marketing API v21.0, date_preset=maximum. Ads Manager UI showed Maximum: Apr 11, 2023 - May 11, 2026.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17BAF15-E5AE-4AAC-BF37-CABF765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79308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174367-F629-4D19-9086-860D35C6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2AB18A-F06D-471D-ADDD-2B92350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22078C-E3F2-46FD-8733-DC0EB5A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META PROOF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0c0a917754ab7"/>
          <a:stretch xmlns:a="http://schemas.openxmlformats.org/drawingml/2006/main"/>
        </p:blipFill>
        <p:spPr>
          <a:xfrm xmlns:a="http://schemas.openxmlformats.org/drawingml/2006/main">
            <a:off x="9944100" y="431154"/>
            <a:ext cx="1257300" cy="35689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FAB25-6C24-4B5B-A4C6-FAE423A5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61F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4161F"/>
                </a:solidFill>
                <a:latin typeface="Georgia"/>
                <a:ea typeface="Georgia"/>
                <a:cs typeface="Georgia"/>
              </a:rPr>
              <a:t>The screenshots tie the story back to Meta, not a custom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3B766-77E7-4586-839E-C73872F8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These are Ads Manager proof rows with spend, website purchases, and purchase ROAS visible in the same 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1C6F6-41D8-4250-9650-0B67F2D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1244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af6dbe10148df"/>
          <a:stretch xmlns:a="http://schemas.openxmlformats.org/drawingml/2006/main"/>
        </p:blipFill>
        <p:spPr>
          <a:xfrm xmlns:a="http://schemas.openxmlformats.org/drawingml/2006/main">
            <a:off x="920353" y="2324100"/>
            <a:ext cx="446484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0DDDB-91F2-4ADC-B0E2-00A3DF5B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A4 main: 816 purchases, $35.2k spend, 6.12x ROAS.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CD299-8D01-4D39-B128-70929B94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51244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c3cff0312406d"/>
          <a:stretch xmlns:a="http://schemas.openxmlformats.org/drawingml/2006/main"/>
        </p:blipFill>
        <p:spPr>
          <a:xfrm xmlns:a="http://schemas.openxmlformats.org/drawingml/2006/main">
            <a:off x="6444853" y="2324100"/>
            <a:ext cx="4464844" cy="2381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9DF2C-DC60-4E49-8EA0-0683E35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4161F"/>
                </a:solidFill>
                <a:latin typeface="Avenir Next"/>
                <a:ea typeface="Avenir Next"/>
                <a:cs typeface="Avenir Next"/>
              </a:rPr>
              <a:t>AA1 main: 517 purchases, $27.5k spend, 3.49x ROAS.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5DEFB-C9DF-4129-B580-BCC05980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874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0C8C0-3C5A-4233-A387-76BD228C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836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Correction baked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8C61C-B286-428C-ACC6-274538B0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76900"/>
            <a:ext cx="836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7EAF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E7EAF5"/>
                </a:solidFill>
                <a:latin typeface="Avenir Next"/>
                <a:ea typeface="Avenir Next"/>
                <a:cs typeface="Avenir Next"/>
              </a:rPr>
              <a:t>Earlier API totals overcounted purchases by summing duplicate action types. This deck uses one Meta purchase action and purchase value only.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E46AA-EAF2-467B-AB2C-8DAD2F94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04462-ECA8-404D-95B5-16027B0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Meta Marketing API v21.0, date_preset=maximum. Ads Manager UI showed Maximum: Apr 11, 2023 - May 11, 2026.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E3451-8893-49FF-97A0-9956892C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32421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2B92B-1DE2-4D8E-BEA8-E662312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B822C-F3B1-4824-A82D-46603190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FFC7D97-6497-47EC-B825-6AA6251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116514-A47E-4B97-A87E-968B880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2026 RECOMMENDATION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12f2098984186"/>
          <a:stretch xmlns:a="http://schemas.openxmlformats.org/drawingml/2006/main"/>
        </p:blipFill>
        <p:spPr>
          <a:xfrm xmlns:a="http://schemas.openxmlformats.org/drawingml/2006/main">
            <a:off x="9944100" y="431154"/>
            <a:ext cx="1257300" cy="3568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65256-EFA8-4397-A970-872B653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Go after the 2026 tour, but sell the operating system, not only ad buying.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DEB73-B60C-4A49-88D8-482FE6E6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The pitch should be: Outlet already proved paid demand. The next upside comes from earlier market access, controlled pacing, and city rescue triggers.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07A29-94C3-4F88-8B46-9F1BDC7A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2683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51525-D893-4F58-B01D-496C0791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35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6835B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C8D0D-B007-43AE-A054-6359079A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908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blended ROAS from prior tour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9DFE7-F9F4-4C88-B8E6-D9685D78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479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782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F107A-C5DE-4297-866C-BE5B662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21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7821D"/>
                </a:solidFill>
                <a:latin typeface="Georgia"/>
                <a:ea typeface="Georgia"/>
                <a:cs typeface="Georgia"/>
              </a:rPr>
              <a:t>$402k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73018-909D-4BC9-9F1D-27DDC0F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908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tracked ticket revenue made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6C4FF-A051-4DBE-8046-4A194AE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479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BBC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0799A-3A9A-4796-A3C4-FA42E3B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BC7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BC7FF"/>
                </a:solidFill>
                <a:latin typeface="Georgia"/>
                <a:ea typeface="Georgia"/>
                <a:cs typeface="Georgia"/>
              </a:rPr>
              <a:t>1,716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F03AE-9481-4A85-BE45-904EE601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corrected website purchases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0F6D4-8979-49CA-9BE0-E13A8FFB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E65C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BFA57-D548-407A-AE93-946EB8DA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5C4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E65C45"/>
                </a:solidFill>
                <a:latin typeface="Georgia"/>
                <a:ea typeface="Georgia"/>
                <a:cs typeface="Georgia"/>
              </a:rPr>
              <a:t>3.64M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CDF54-059F-4097-9291-D064D1CA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908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account-level reach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39AD0-431F-435D-9FC1-1EA8E6F6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835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6835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D5095-2BCD-4C57-9790-0179C9BD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A5672-FF3A-406D-8759-F9D5E4C1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481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Ask for the full USA/Canada tour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47A90-8D77-42B7-9C2C-64EA495B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48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Use the prior campaign proof as the reason to own the tour instead of getting late-market scraps.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B336F-FC04-4DFB-9C77-ACFFA390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BC7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BBC7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4D83B9-59A5-43EA-A542-7E020D98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8A739-5826-40E4-9A75-9F78AA67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053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Lock city pacing before onsale pressure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14F7CB-AB2B-49D4-935A-E78F7C7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05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Leg 2 still worked, but higher CPP shows why late access costs more.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B3687-DACF-4748-A76A-D5ADD875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BC7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BBC7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77A00F-24A0-4F3F-BB43-A1845493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34AB9A-1E97-4A6C-80F6-829B8D8B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625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Build budget by market condition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E12AC-2154-498B-BC9A-9C7C1D81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62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Separate launch, retargeting, and rescue money. Do not run every city with one blended rule.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D31216-CDFA-46A5-B09F-2D6F4F5C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BC7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BBC7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CB2D1B-BC68-4CAE-BE2D-78F95672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9990B-D23E-4BF9-955A-CA47330E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197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Bring reporting as the close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A52F06-C184-4E8A-93C1-F7723681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19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4FF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DDE4FF"/>
                </a:solidFill>
                <a:latin typeface="Avenir Next"/>
                <a:ea typeface="Avenir Next"/>
                <a:cs typeface="Avenir Next"/>
              </a:rPr>
              <a:t>Show Meta proof plus a weekly revenue bridge: spend, made, purchases, reach, CTR, ROAS, and city risk.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1982FC-12FF-4AFF-87A2-24AC8EA1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81650"/>
            <a:ext cx="3181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F4D993-74A0-4C9A-B7F8-3EDE7125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1500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Close 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0517E7-D52A-4265-AF96-0C48580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0388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7EAF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E7EAF5"/>
                </a:solidFill>
                <a:latin typeface="Avenir Next"/>
                <a:ea typeface="Avenir Next"/>
                <a:cs typeface="Avenir Next"/>
              </a:rPr>
              <a:t>2026 ask: early access, pacing control, and weekly revenue reporting.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3B7621-5B40-44BC-8104-BFEDDA51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4A148F-3219-41B9-930C-A152014A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Meta Marketing API v21.0, date_preset=maximum. Ads Manager UI showed Maximum: Apr 11, 2023 - May 11, 2026.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CA8137-FC52-40A2-A3AB-A144F865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07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13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2026-05-11T23:58:24.2050000Z</dcterms:created>
  <dcterms:modified xsi:type="dcterms:W3CDTF">2026-05-11T23:58:24.2050000Z</dcterms:modified>
</coreProperties>
</file>