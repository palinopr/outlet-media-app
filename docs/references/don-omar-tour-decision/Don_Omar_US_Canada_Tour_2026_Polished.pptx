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d204708b0409e" /><Relationship Type="http://schemas.openxmlformats.org/officeDocument/2006/relationships/extended-properties" Target="/docProps/app.xml" Id="R476cebefcf8944f9" /><Relationship Type="http://schemas.openxmlformats.org/officeDocument/2006/relationships/officeDocument" Target="/ppt/presentation.xml" Id="R382ad923fa9844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2908526521466d"/>
  </p:sldMasterIdLst>
  <p:notesMasterIdLst>
    <p:notesMasterId xmlns:r="http://schemas.openxmlformats.org/officeDocument/2006/relationships" r:id="Ra4b711d04ce84631"/>
  </p:notesMasterIdLst>
  <p:sldIdLst>
    <p:sldId xmlns:r="http://schemas.openxmlformats.org/officeDocument/2006/relationships" id="256" r:id="R2c95fac9f8e94066"/>
    <p:sldId xmlns:r="http://schemas.openxmlformats.org/officeDocument/2006/relationships" id="257" r:id="Rab1ef07d689d47a1"/>
    <p:sldId xmlns:r="http://schemas.openxmlformats.org/officeDocument/2006/relationships" id="258" r:id="Rade902db2aa14a9d"/>
    <p:sldId xmlns:r="http://schemas.openxmlformats.org/officeDocument/2006/relationships" id="259" r:id="R8facc7e473624bca"/>
    <p:sldId xmlns:r="http://schemas.openxmlformats.org/officeDocument/2006/relationships" id="260" r:id="R97c2f93e5c7942d3"/>
    <p:sldId xmlns:r="http://schemas.openxmlformats.org/officeDocument/2006/relationships" id="261" r:id="Rb766841af6d24c68"/>
    <p:sldId xmlns:r="http://schemas.openxmlformats.org/officeDocument/2006/relationships" id="262" r:id="R94f2048f21104a15"/>
    <p:sldId xmlns:r="http://schemas.openxmlformats.org/officeDocument/2006/relationships" id="263" r:id="R4c5ab1bdd47c49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908526521466d" /><Relationship Type="http://schemas.openxmlformats.org/officeDocument/2006/relationships/theme" Target="/ppt/theme/theme1.xml" Id="R2b0b3c285f514ef2" /><Relationship Type="http://schemas.openxmlformats.org/officeDocument/2006/relationships/notesMaster" Target="/ppt/notesMasters/notesMaster1.xml" Id="Ra4b711d04ce84631" /><Relationship Type="http://schemas.openxmlformats.org/officeDocument/2006/relationships/presProps" Target="/ppt/presProps.xml" Id="R62ea934ba9ec4c6a" /><Relationship Type="http://schemas.openxmlformats.org/officeDocument/2006/relationships/viewProps" Target="/ppt/viewProps.xml" Id="R86a2d24ec3cc4d81" /><Relationship Type="http://schemas.openxmlformats.org/officeDocument/2006/relationships/tableStyles" Target="/ppt/tableStyles.xml" Id="R6b95c6de56f34a9e" /><Relationship Type="http://schemas.openxmlformats.org/officeDocument/2006/relationships/slide" Target="/ppt/slides/slide1.xml" Id="R2c95fac9f8e94066" /><Relationship Type="http://schemas.openxmlformats.org/officeDocument/2006/relationships/slide" Target="/ppt/slides/slide2.xml" Id="Rab1ef07d689d47a1" /><Relationship Type="http://schemas.openxmlformats.org/officeDocument/2006/relationships/slide" Target="/ppt/slides/slide3.xml" Id="Rade902db2aa14a9d" /><Relationship Type="http://schemas.openxmlformats.org/officeDocument/2006/relationships/slide" Target="/ppt/slides/slide4.xml" Id="R8facc7e473624bca" /><Relationship Type="http://schemas.openxmlformats.org/officeDocument/2006/relationships/slide" Target="/ppt/slides/slide5.xml" Id="R97c2f93e5c7942d3" /><Relationship Type="http://schemas.openxmlformats.org/officeDocument/2006/relationships/slide" Target="/ppt/slides/slide6.xml" Id="Rb766841af6d24c68" /><Relationship Type="http://schemas.openxmlformats.org/officeDocument/2006/relationships/slide" Target="/ppt/slides/slide7.xml" Id="R94f2048f21104a15" /><Relationship Type="http://schemas.openxmlformats.org/officeDocument/2006/relationships/slide" Target="/ppt/slides/slide8.xml" Id="R4c5ab1bdd47c49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5c5c21ac974e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7cea828838457f" /><Relationship Type="http://schemas.openxmlformats.org/officeDocument/2006/relationships/notesMaster" Target="/ppt/notesMasters/notesMaster1.xml" Id="R8c9ef4178f9644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d4c102bf6749a4" /><Relationship Type="http://schemas.openxmlformats.org/officeDocument/2006/relationships/notesMaster" Target="/ppt/notesMasters/notesMaster1.xml" Id="R65b50feb65844d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bfa56a3d724620" /><Relationship Type="http://schemas.openxmlformats.org/officeDocument/2006/relationships/notesMaster" Target="/ppt/notesMasters/notesMaster1.xml" Id="R8d367b625bca4e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1a894189f4659" /><Relationship Type="http://schemas.openxmlformats.org/officeDocument/2006/relationships/notesMaster" Target="/ppt/notesMasters/notesMaster1.xml" Id="R6d4cc2dff83441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9d9856d0d740fa" /><Relationship Type="http://schemas.openxmlformats.org/officeDocument/2006/relationships/notesMaster" Target="/ppt/notesMasters/notesMaster1.xml" Id="R22c6f40cb8084b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d5fab5d7604be1" /><Relationship Type="http://schemas.openxmlformats.org/officeDocument/2006/relationships/notesMaster" Target="/ppt/notesMasters/notesMaster1.xml" Id="R2b368bc9e95144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507828d7da42ed" /><Relationship Type="http://schemas.openxmlformats.org/officeDocument/2006/relationships/notesMaster" Target="/ppt/notesMasters/notesMaster1.xml" Id="Rb549dcac210e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264d66633b4361" /><Relationship Type="http://schemas.openxmlformats.org/officeDocument/2006/relationships/notesMaster" Target="/ppt/notesMasters/notesMaster1.xml" Id="R586fa5316c6d4c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f7b0af93d44e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2351f34c0b24b32" /><Relationship Type="http://schemas.openxmlformats.org/officeDocument/2006/relationships/slideLayout" Target="/ppt/slideLayouts/slideLayout2.xml" Id="Raed46576704e47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d46576704e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af34190244763" /><Relationship Type="http://schemas.openxmlformats.org/officeDocument/2006/relationships/image" Target="/ppt/media/image.png" Id="R31e01736376f4442" /><Relationship Type="http://schemas.openxmlformats.org/officeDocument/2006/relationships/notesSlide" Target="/ppt/notesSlides/notesSlide1.xml" Id="R985e3f9d2b2646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6fec6bee184821" /><Relationship Type="http://schemas.openxmlformats.org/officeDocument/2006/relationships/image" Target="/ppt/media/image2.png" Id="R0895e1b14c574c17" /><Relationship Type="http://schemas.openxmlformats.org/officeDocument/2006/relationships/notesSlide" Target="/ppt/notesSlides/notesSlide2.xml" Id="Rf6a4c379182f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0b2253a2f4519" /><Relationship Type="http://schemas.openxmlformats.org/officeDocument/2006/relationships/image" Target="/ppt/media/image3.png" Id="Rcaaa5006faa9493d" /><Relationship Type="http://schemas.openxmlformats.org/officeDocument/2006/relationships/notesSlide" Target="/ppt/notesSlides/notesSlide3.xml" Id="R8ccedf235b974f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35a3b8a124b1a" /><Relationship Type="http://schemas.openxmlformats.org/officeDocument/2006/relationships/image" Target="/ppt/media/image4.png" Id="R6bcef5135b23441b" /><Relationship Type="http://schemas.openxmlformats.org/officeDocument/2006/relationships/notesSlide" Target="/ppt/notesSlides/notesSlide4.xml" Id="R517a868f258e45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280be28462422c" /><Relationship Type="http://schemas.openxmlformats.org/officeDocument/2006/relationships/image" Target="/ppt/media/image5.png" Id="R6ab6ebdf3b52496b" /><Relationship Type="http://schemas.openxmlformats.org/officeDocument/2006/relationships/notesSlide" Target="/ppt/notesSlides/notesSlide5.xml" Id="Re02f62eb91d64c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05b321a8f44886" /><Relationship Type="http://schemas.openxmlformats.org/officeDocument/2006/relationships/image" Target="/ppt/media/image6.png" Id="R077b34a5cc404c04" /><Relationship Type="http://schemas.openxmlformats.org/officeDocument/2006/relationships/notesSlide" Target="/ppt/notesSlides/notesSlide6.xml" Id="R57c90ceb767840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bd4455318b4a2f" /><Relationship Type="http://schemas.openxmlformats.org/officeDocument/2006/relationships/image" Target="/ppt/media/image7.png" Id="Re518869ea8bf4419" /><Relationship Type="http://schemas.openxmlformats.org/officeDocument/2006/relationships/image" Target="/ppt/media/image8.png" Id="Rc1aa054b09434d07" /><Relationship Type="http://schemas.openxmlformats.org/officeDocument/2006/relationships/image" Target="/ppt/media/image9.png" Id="R53e1ef0330b24e53" /><Relationship Type="http://schemas.openxmlformats.org/officeDocument/2006/relationships/notesSlide" Target="/ppt/notesSlides/notesSlide7.xml" Id="Rd7c2cc515f45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09e3fa23e64e90" /><Relationship Type="http://schemas.openxmlformats.org/officeDocument/2006/relationships/image" Target="/ppt/media/image10.png" Id="Rd936962cd77f4232" /><Relationship Type="http://schemas.openxmlformats.org/officeDocument/2006/relationships/notesSlide" Target="/ppt/notesSlides/notesSlide8.xml" Id="R5e5a7f4e83cd4f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9FC24-2BA0-4CF8-BB71-FF07BC31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01736376f4442"/>
          <a:stretch xmlns:a="http://schemas.openxmlformats.org/drawingml/2006/main"/>
        </p:blipFill>
        <p:spPr>
          <a:xfrm xmlns:a="http://schemas.openxmlformats.org/drawingml/2006/main">
            <a:off x="652859" y="457200"/>
            <a:ext cx="1342233" cy="381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6D862-5EF5-4910-97E5-BA215AE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4819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6A8BA-4823-4F4C-AADE-610BC387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"/>
            <a:ext cx="436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FFCD9-B0C1-43BD-BDF2-34611861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5780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C7235-4B78-44E3-96B8-CD10E132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8CF07-DCB3-4543-AE02-645EE78D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244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90403-3617-4C85-B968-EB5454A2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A9278-AB0C-4FF7-A42E-29217D96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95850"/>
            <a:ext cx="114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B5FD7-8268-4C67-A4DF-EB0E5412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91000"/>
            <a:ext cx="1143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06D8E-7D7B-4BF5-8EE6-F7BF292D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86300"/>
            <a:ext cx="114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B1C40-63DF-4A9B-8C0B-5330CC59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6730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6BF23-61AE-4290-A997-491E4266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00550"/>
            <a:ext cx="1143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AA9F4-6DE8-42E0-9939-FC97604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1965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4028A-DB7B-41BE-A4A0-CDA55F4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2197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D3591-FAB3-4407-9E3D-3077A85B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552950"/>
            <a:ext cx="114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97034-8AE2-465E-B452-E63246C8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2D209-3897-4C36-9CAF-29CA05B8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E4ED8-2212-421E-A0BF-28ACE08A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30CF4-6998-4C44-8047-BE2628E8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E26A3-CA17-44FC-97E5-EE94E558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EA8F4-8269-4568-943A-2911CC27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BF1B3-8C49-42D1-95DF-253433A1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75C26-EE01-4133-A1FC-FEF0419C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56A0A-9DE0-4072-9820-643C1D1B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F892C-69EC-4112-B859-76F8FA8E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33BD6-E08D-4EAF-9BC8-155546B4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BB711-1808-4D6F-8723-84CE17BC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9960D9-0C0E-4D11-98A6-A4FAE86F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84519-7227-4A6C-8578-4EFCB3F2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2D5632-8AA2-4074-946C-1BC5530A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79C4F-9671-4867-9D78-6EAB02EE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FBD56-2CB4-4769-9F2A-17ECA366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799767-444D-4B0F-B941-BA703E6F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5D58BE-199A-46E1-A819-3DC08888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6B8C3-F99F-4A9A-8024-8A3739C5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2D1D9E-A825-4059-A88A-5AEF4C75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7D5984-0E29-4608-9E86-1E33A1F1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FE679E-D4BC-4282-AC8C-A08495D8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AA4869-F88A-4FD5-9243-9793000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49DC69-CC0C-466F-A9FF-F7EA4C8A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650A5E-6447-40E3-98EF-2561E06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8B6565-D839-44CA-82DF-91253D9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029E5B-3A42-4292-99D3-2680A59E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CD23BF-3ECE-4151-8547-397C363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75087C-FEF2-40C6-AF6E-19D6EDDE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3C2C9B-51FA-46E9-8B2E-838858FF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513739-83A4-4CBA-A2BC-11C8794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2B3ACD-BAA3-41B7-9B9C-6C352A97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5C9504-F707-4ED9-9870-0310B95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545288-FCFE-479D-A93E-FE283D9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A049CC-5F4F-4386-BF56-C5318E74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002D00-24CF-4DBD-87B6-3EA498A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49471B-D3DA-4CB7-B125-BABFFA0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9B2B3D-84C8-478F-AC0B-57B63A8E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C778E9-B698-4152-9F66-F3394717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38A6F1-D1B0-451F-BD7A-9848CEE9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2A5A55-C2D6-4398-A56F-2597FBE4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2F8462-C855-4A91-B566-FC76DBA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F33A25-D2F7-4025-B416-94BB96B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476CA0-2DE1-4C9B-B37D-ACE12A55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586BF6-6731-4412-8504-FBD6297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A98ADA-C010-47AC-AD2B-9657CCB2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F579AC-DB73-4B66-968D-A704825B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AFB261-292B-4DCE-A66F-921604D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A7E71B-F278-48D6-8498-EF7A76D1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AC74D8-2222-43C8-B09B-399AB984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A1C18C-C8B5-4A02-A8FD-A71AC1C1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91D189-E801-4A53-A774-895E59A6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F6AC0B-276B-4487-AC3D-3D81C737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F646D6-01AA-4263-B54A-CC3E64A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AFEC4C-EF29-4A85-BF23-4F41705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E089C9-29D6-4085-861F-95D33588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F76C9E-F5C2-4972-9B80-C505C7F5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ABA8EC-4AC9-4C70-B171-3D13BD1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4140196-F23C-41DD-87B2-C1DF9771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81D156-75EC-4C69-910B-AD50350F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9BA021-0350-4C11-BC65-0DD1D734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BC0285-79E8-48B5-84F7-F153759B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0B793D7-7CD5-4845-A8D7-65BA766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3721E6-C5D2-4B0C-8184-F2CFCAD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E7A091-CE3D-4147-8C7B-61921B52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23D664-0A7B-4398-B591-7565746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F0E5F90-BF1C-469C-B5D6-D1B24F62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1455FF-8EEE-492D-9D38-931A1B7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CCC838C-81B5-48EB-A231-8B8FF44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BC0039F-8886-4D84-9254-6F059D1A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BADCCA-538E-4322-8747-21323D7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6BD858-F2F9-40D6-9E23-0C732E67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D63EAD-CAC2-460A-8D3A-9F252EA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E540CA-F2C9-48BA-BCE6-76F84222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10711AF-E6E5-4981-AC78-523CB4ED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022F7FB-9391-4048-842D-F76F97F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1DB98B-34B4-4D5E-B244-9B34D783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51CC5A9-6AB7-4594-9477-129BCD0A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A4FEA6-FEB2-44E4-9C61-01D390E0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505012-6B30-4B34-88D1-BC292B1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A5AFFE6-809D-4AF9-9955-48AD044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FF4DAF-786F-493D-8E42-816EAF23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9D0D208-FA9F-47BE-82B6-0A4C86E5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BB960A5-CC79-4880-80AD-F9D7F3C0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00BC05-2A13-44EF-96FD-9025BCF9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0A236FB-5894-4251-889A-F6259FE1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DCB186-569A-4423-8C03-18C3D260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8B2B1C-A22A-4F23-8F74-6DCB22F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48D24D2-2BA0-415E-99CF-4E68C185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E6D3C4D-967C-4386-95AD-7F159228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829C36-BCD3-4C62-AF74-CD5DA7D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D839A69-41A8-4B13-8B8C-A67D5841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E33DE41-B3CD-4305-A901-0CA41EE0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C9D3EF-3950-4156-BC53-F9AB76A3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DF691F2-0265-4B54-B0C9-87A94EC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C45A38F-2B9A-4BDB-91BA-4553C79D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D47CB57-CD16-45F8-BDEF-7E5D6420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5AA6FD-1686-429B-A30C-B124548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3F8477A-1760-4B66-B178-54374FF6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CFC4DBF-E8ED-4E0A-89AD-D7718D5F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7704A58-EE2D-470C-B14A-4AAAA2C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0875507-91B9-4DEF-BBB8-C998E5A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16466DC-8BB4-46B3-8193-B9C587B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DCE0457-E929-446B-A876-0AF5DD55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8562FA6-AAA6-4FB8-84C3-D843B31C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1996829-D821-4810-84DB-E72125DE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25E3C02-455B-442B-8EDC-6DD043DD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7EE607E-2C65-4565-9B3B-D0E9B78D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447E70A-C4B2-4694-956C-F61F6EA9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2B3321B-69BE-4BC0-A92F-FD676BC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4110E3B-53AB-440E-8C46-B30AA42B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C33772A-57A3-4957-80D9-53716EFB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578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57B611-8AC7-4A1D-BE06-C02A433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102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B12B463-A9C8-4742-B297-C0C75A55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TOUR DEMAND ENGINE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59C69B-4197-427D-AFF9-D195302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8D5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C8D5FF"/>
                </a:solidFill>
                <a:latin typeface="Avenir Next"/>
                <a:ea typeface="Avenir Next"/>
                <a:cs typeface="Avenir Next"/>
              </a:rPr>
              <a:t>DON OMAR USA/CANADA TOUR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4987D61-322C-47C8-87BF-FE0D26C5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762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cleaner case for winning the 2026 tour.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B628A82-69BF-4ED5-AFAC-4374F257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600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4FF"/>
                </a:solidFill>
                <a:latin typeface="Avenir Next"/>
                <a:ea typeface="Avenir Next"/>
                <a:cs typeface="Avenir Next"/>
              </a:rPr>
              <a:t>The prior tour already proved paid demand. The next pitch should sell Outlet's operating control: early market access, city pacing, creative testing, and weekly revenue reporting.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707737-89D1-49AE-9EDC-6CA7CABC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DE0BF07-1FE8-45F3-A126-F404D6EA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2816131-4176-47B7-88F1-6205496F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$92.7k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27A9DB0-494F-4968-A44D-F6D7D8F0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42FAD2F-9638-43DD-958B-77E14936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all tour media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0366EAD-9512-4B45-803A-DC536E63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8D02566-9F93-481B-8443-82AF8D20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30842AD-4AB2-4B76-8C75-5BBE220F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6275A02-3EF6-4C10-AE3B-757F81B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483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A7A2FA0-9480-4713-BA59-29A07FF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tracked value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943650F-CA50-4AD8-8DF2-CE15B81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58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31EC98-2B93-4D7C-80E3-16457BF4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58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83660E3-F3AC-4938-B5EF-7553D40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67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80CB5CF-5094-4D86-A391-94606A96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0994056-0F35-420D-B005-CAEB55B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purchase return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1BFD35D-5B7F-464B-9F58-AC69266E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43450"/>
            <a:ext cx="32575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9525">
            <a:solidFill>
              <a:srgbClr val="6F82F8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3BEAE58-875D-443C-A52C-F7109FA3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D5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C8D5FF"/>
                </a:solidFill>
                <a:latin typeface="Avenir Next"/>
                <a:ea typeface="Avenir Next"/>
                <a:cs typeface="Avenir Next"/>
              </a:rPr>
              <a:t>Decision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17AB621-B86E-4A2A-AEA1-B1DCEBA5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YES, WITH CONDITIONS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59EEA2B-3456-488F-A70C-1E1B2BE9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2930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4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CE4FF"/>
                </a:solidFill>
                <a:latin typeface="Avenir Next"/>
                <a:ea typeface="Avenir Next"/>
                <a:cs typeface="Avenir Next"/>
              </a:rPr>
              <a:t>Take it only if we control timing, reporting, and budget logic early enough to protect later markets.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B9878F4-E9FB-4849-B9B4-5E51D72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DCC5B87-A5A7-40DE-A378-DB2B5430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291C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291C8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552652A-A694-46D7-AA33-90B33FFA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BE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BE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37412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E9E04-2C93-4F85-B494-CE76DAA7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50988-EFB0-4BFB-AC16-4D1BF71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F867D20-6B51-4F79-9DBD-7241B872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EXECUTIVE READ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5e1b14c574c17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F7E2F-558E-47BE-B1B7-F49E8C6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business case is not the spend. It is $402k made from controllable paid demand.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B1ADA-E66D-40E1-AFE8-05BC662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 2026 pitch should lead with revenue proof, then show how we would make the next tour cleaner.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64094-20C1-403C-930E-75A0F45A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84EAF-760C-4BFA-AB6B-AC0630B9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3951F-5784-42E6-8AB3-17DD756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$92.7k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28D39-411F-4A43-9269-4F033700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OVERALL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FFA83-D100-4CEF-BE6E-796F0E36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72FC8-A7EB-4618-8464-37715C23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4A2AD-8B1F-46A9-BDD9-1B82BAA3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A5134-D720-490E-BC6B-3197FA02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F753D-E18C-4911-AEFA-4F4DB005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B91AD-D3A5-4531-AF03-4491306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purchase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07C07-6F1C-4969-B43B-6AE8DDD1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B9C2A-CF3D-40F2-92E8-8FAC0A0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E9370-2241-458E-8463-2ACCF0B4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1,716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B19D0-67A3-4A79-BD44-27849250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5D1C4-2193-40E5-8719-FD721BE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$54 CPP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A2D0F-E50D-4A73-8DCA-26F84EE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71E10-6C95-4649-BC8F-B21EF3AB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86BA9-8B72-40D8-B9F2-9BBA173A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A9F60-A82B-49B8-9CBA-0D1DA7AC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EBBF5-F8E2-497F-A411-3EC6504B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blended return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3FC85-32D9-464F-9D61-5F4FFB9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BD9627-CF1E-42EA-9A23-853E5639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DF15F-1A73-4B66-998D-2A63569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3.64M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B8010-A331-4EDD-AF83-E6D6B884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C9006-154E-418C-8421-241BCA42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account-level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835A2A-A98E-43B0-A5B4-FF14191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54295-2228-4A1A-9790-49DBD79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204F6-BCA3-4965-A764-18C511E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2.25%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AF61AF-A449-4C4E-B4E0-3B494B4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97A0C8-4DBA-4401-BA0A-FFA89378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311k clicks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9EB28C-5B3C-470F-8D6B-5B226184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E3A59D-214C-41F8-8A83-CACE5365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What it says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D5DC70-FFA8-4A6B-8654-AF31D2D4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The tour has enough demand to justify a full-service 2026 ask. But the profit story depends on controlling timing and market pressure, not just pushing more spend.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C98361-CF34-4D77-B5E4-DEDD712D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What to sell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B978B9-FE38-4B4F-8A58-C4CA19EB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0125"/>
            <a:ext cx="434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 weekly operating loop: spend, made, ROAS, reach, CTR, city risk, ad-set movement, and creative rotation. That makes Outlet look like the revenue control room.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D13361-DFB7-4C94-B7AE-E6B9A843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436E00-92B0-41EF-9338-8CC71E37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EC7EFE-8E96-4566-9C2F-9B73393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32479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8AA5FF-DEB9-40E7-B37B-18C0A545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B1CF-F65C-4A10-BC52-5B7D689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70AC36-220D-4DF8-BD2D-BBCC11EE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DEMAND FUNNEL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a5006faa9493d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9F3F1-892E-4781-BC5C-8E3912B3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funnel shows scale, then where the 2026 operating plan has to tighten.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9253F-726A-4295-9E0C-21B2EE35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Reach was large enough. The opportunity is turning more of that attention into city-specific purchase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6B0E-D48D-46CE-9DAD-BB3A22C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7FA4F-F3D2-49B4-A03B-93ABA6C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Impressions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C7D9E-6F54-4D1B-985E-29C1B48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955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13.83M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AAF66-DEEF-40DB-8947-1CAF332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55016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B90A1-1A88-4194-8C19-5155D3D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21AF3-84B7-468D-A43E-3A920198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479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3.64M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869F4-DFBF-4320-8AD2-1CA8B08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764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56218-6FD6-49B1-B6AA-C689635F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Clicks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8BB82-678E-4FE5-8715-1BAB1652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04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311,132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D3393-1383-4A48-BB11-20BED6AE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7508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4045D-D589-4FE0-8293-FE68890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Link clicks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94E6B-C3AE-4EC6-A2F1-9A0FA7F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145,026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84E27-5E15-45FC-8459-BDDC097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5925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A35FB-CF1B-4FE2-B54B-1A335F7A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04C52-6E78-4004-A58B-CCA798FA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053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1,716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733ED-68EB-4570-975B-C1769840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4DF1A-513F-4341-91B3-915CE277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AF4D5-DCFF-454D-9205-18CE7D36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577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1AB64-E356-4066-9EF1-F5E75549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6950"/>
            <a:ext cx="16383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55CCC-A3A4-4629-BA3B-CC2891FC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Conversion 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36634-7F67-4392-9A27-57FBBD8B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1.18%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351AA-C355-47B8-A4A5-8F6519A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purchase rate from inline link clicks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51BCA-1537-4F02-8E32-6BA568CC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08A1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D08A19"/>
                </a:solidFill>
                <a:latin typeface="Georgia"/>
                <a:ea typeface="Georgia"/>
                <a:cs typeface="Georgia"/>
              </a:rPr>
              <a:t>$235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F1D72E-5B88-4C76-8F10-841A599D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386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tracked value per purchase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C4C8C1-E4B8-42E4-8FEB-7EDCE49F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2026 implication: do not buy the same audience harder. Segment by market temperature and move budget only when each city proves purchase intent.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43201-AA09-456A-9A00-FBF6D1FF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B4BBC-E50D-47CF-B3F8-BF53A91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423845-FA4F-4A7D-9BBA-893EFE5D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25828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AC69A-AA4C-44D2-922E-072BD4E1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955C5-0C86-43E2-957D-6FCE63E3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A50B09-A7E9-4568-8AD6-04F96771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LEG ECONOMICS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ef5135b23441b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EE6DB-1761-4E24-B8EC-1B2BA722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Leg 1 was the proof. The later leg shows why timing is the margin lever.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78E35-B673-4C69-8907-8FEBDC4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The later leg still worked, but cost per purchase rose sharply. That is the reason to ask for earlier control in 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74749-A146-4DE0-9121-26CEE9E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Leg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058A2-1501-4EC1-8ECE-1CA2B202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288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65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6865B"/>
                </a:solidFill>
                <a:latin typeface="Avenir Next"/>
                <a:ea typeface="Avenir Next"/>
                <a:cs typeface="Avenir Next"/>
              </a:rPr>
              <a:t>4.96x ROAS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7DF54-B5D5-48AD-8BE3-0E961D8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Revenue made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8EB01-4513-4A0F-BEFB-DEF949C7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2368C-35CE-4689-900E-89FA538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C1F2D-45D0-4480-B74E-CB076567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622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$311k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96F05-99B8-4B95-B246-4BECE42A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A02CB-5424-48DF-8168-4331FA0D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82650-74EC-4DCA-81B1-8CCEFDD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B6BE3-BABE-4230-B0C6-203BB5B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04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$62.7k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6E17E-11CC-4A03-A905-9E46CEE6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AC9BA-CB29-4A97-8D8F-8D3E995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862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AEAF4-6276-401D-A887-12F00C06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862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B77E3-31B5-4FF9-AEDC-BEFDE959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1,333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8844C-CA52-4065-A7C7-A5D143B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27B9E-D72B-4819-8038-D0C25DD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243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AF526-B2B7-43EA-91AA-49F755B0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24350"/>
            <a:ext cx="13643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47BC6-5E86-4370-9613-3214DAF9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767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2.04%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83DDD-343D-4A1B-9E6F-B8CBCE0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Cost per purchase: $47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242EB7-7E0B-41B7-9A33-A749DB0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DD688F-C46E-4D6F-9AB3-139C515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Leg 2 / later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0A518-6666-49E7-BF10-5E4C2F5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8A1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08A19"/>
                </a:solidFill>
                <a:latin typeface="Avenir Next"/>
                <a:ea typeface="Avenir Next"/>
                <a:cs typeface="Avenir Next"/>
              </a:rPr>
              <a:t>3.09x ROAS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A0BC9-55AB-4DC8-98CD-8B404BD6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Revenue made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71B06-C40F-4047-924B-36CEE2EE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890D9-C8D2-49D0-9FE1-28E2979E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61143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F0B65-D2CE-43DC-A14F-2D811D34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622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$91.6k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043DB4-BFD3-4614-A02A-B4CEBE28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9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63545-4C38-49D0-99B7-799CC0EB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5CCAC3-EE63-47D6-A601-1E9447A8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98371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3744D-96D4-46B4-A29E-3571FF1F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4004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$29.7k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E1C106-3A96-4732-A600-B285D19D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D9F73-9EC6-4A47-A3BA-DD79A7AB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FF6E98-D3F9-438F-B596-99E884A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59660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266C29-604E-4CA4-9EB1-6E507079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385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383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75ABDB-272D-49F0-9F0E-E5033C1D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862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B997BC-AF31-4FE6-8CEB-084E99F4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1D40C3-298E-4736-B16D-71015BE2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195825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5D739D-3D65-4DB6-909B-C79C754D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767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2.92%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44BD18-43F8-41A9-ACF6-9075B8C5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Cost per purchase: $77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47A9D7-5501-438D-9D0D-BEE37D3D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The leg 2 warning is useful in the pitch: when Outlet gets late access, it can still create revenue, but the campaign has to buy harder. Full-tour access is the performance unlock.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447606-59F9-4909-8E85-4B92D96C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4678DD-4E6F-4E01-BA13-27D4A3BF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112198-23CF-4419-BFAB-B5B7623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45824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449D1-108C-4B05-8766-597938B2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173B3-39D3-40C2-B200-010595E2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33CB74-37FF-4CBE-8C1E-026C5D99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ACCOUNT PROOF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6ebdf3b52496b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995C6-1A5D-44C9-AFD3-B5D2D18B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A4 gave the strongest efficiency signal; AA1 added volume and engagement.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82763-B8E7-47C8-936F-E56F42AF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The account split lets us explain where the return came from and how to structure reporting for 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E4F7E-C576-4466-A553-B9D4EAD2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043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46210-09A4-404F-8C56-95B2F267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3067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Account / campaign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5E764-F632-4428-B863-0B078C7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003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608F1-3027-42F8-B3E9-92887CBC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2EAEB-7545-4900-A71B-66FBA83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800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5D1FC-29BD-4D83-92DE-DE3DFE8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838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84596-2B8A-46C8-94F6-A7F49549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571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FB6E7-C241-4E8B-BE30-EE27F0D6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A099D-B4C5-4162-BEE8-B6B6F2AA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FE91D-87FF-4C99-B37F-4E7EFF51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1043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CD31A-2EC7-4441-9BDF-4924211A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1B5E0-5C2D-458E-B319-BBFADF0C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A4 account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A4CCE-AF4F-41EF-8671-303B0C08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81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$41.5k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8864D-63C5-4480-B060-5B322454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$238k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2B0C9-A448-4D69-99D0-ED032293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886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F4C4E-91E6-44FC-AF87-E3D3A35D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2.07M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0D852-B4D9-4F18-ADCC-46F30A0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1.94%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795A7-D298-479D-84D1-EA14D4B2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5.72x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B6469-B42A-43A6-9D31-2A51277C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81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$47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A308B-B30A-4348-B8A6-C20BF013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C4B23-ED0D-4558-A6CF-D240D03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AA1 account total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D25A8-1410-4584-A200-265E09F2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$51.2k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858225-0837-4546-ADFC-707D57EB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$165k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E0653-D1C5-48C2-B1D2-7BA2859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830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CEEBDD-B4BA-4D7B-882D-3CC6A7DE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1.57M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D0741F-E460-4C5D-AF1A-BF533A4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2.60%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9C275-3203-47EA-B25E-4A996C2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19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3.22x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804163-D4DC-4654-9D81-DD5F1229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19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$62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22EA6-E435-40F4-AF22-155AE905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43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6A0E13-7FB1-4DA8-9C8A-080ADD5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067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Account / campaign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6D75BE-078E-4861-B86B-C35DD19D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624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D30076-5D31-48C2-95BE-11B41D1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857930-5EFE-4BF9-879E-ADD56ACE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800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A23C47-5FA7-4615-995C-3CF7382C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62400"/>
            <a:ext cx="838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22C6AB-E41D-430E-80BE-03A98229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571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D2DBF-2D2F-475D-B683-1373F44E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624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AEE020-3A33-49F7-9487-F5B36D3A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624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CPP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3BB30A-21E5-4674-A5BB-54097A53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E08CF2-B114-4180-A234-92434AC4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A4 - Tour Sales - MAIN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8C5648-B05F-4E4B-AF00-92B60302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43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$35.2k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DE4D75-4572-413A-B90F-28270A0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$215k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724ADC-4FDE-4B31-B3A3-E78DA07E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816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1FD3D6-647B-4CBA-9CB8-5C2316B2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1758k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8B67BD-518E-4353-913E-043E26C0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1.83%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B49275-ABFE-4783-BF37-042EA61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43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6.12x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832750-8040-4739-B546-6541CB7C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43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$43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12DBF3-D21F-4160-B314-C5E1FC3D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043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33325C-FD78-4A8F-9D24-7E58388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DF3DEC-D714-4E0B-BCE5-215FF31D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AA1 - Don Omar - Tour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5BAC38-C1EF-412C-9945-76A96F5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053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$27.5k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E27359-63ED-4E22-99C9-E442EBBF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$95.9k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046AAB-04BB-4181-A1FA-FD430B78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517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144FB6-5D98-4968-9F6E-F86A997A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738k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DC3315-6F40-436F-A3EB-9C47832F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053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2.38%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398526-7498-42CE-9505-DD777F3E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05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3.49x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16762E-8119-4B77-BB2D-8F4208AC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$53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B38299-C55F-4F38-B0A8-980E039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1E7070-D4F0-4177-9813-FE713F45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AA1 - Tour - Part 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BCB776-BC3D-4D39-8D84-5DFF30AB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67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$23.7k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E099C3-1613-47B9-9248-5751B077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67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$68.9k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BB98CF-F32A-46BB-B591-1633DF80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313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C50B9D-AC1F-44FE-931A-4EBC8D14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673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909k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81C617-325D-4C00-AE79-06C06359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67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2.96%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BBC73D-2D0A-43B0-9324-CF9C8904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67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2.91x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7CF2BF-DF84-4AB9-8F13-197C276A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$76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64A22F-9E54-4F01-9896-7EE5F8F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043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F42B55-8D8E-44CD-B57D-98DA387C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1E9E70-0404-4073-9F54-5EC5150A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A4 - Main 2 Leg Tour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A8CE45-1350-4452-BB04-AB15C293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429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$6.0k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8C40BE-530C-4905-94CF-C6B278C4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$22.7k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3F9240D-BC80-4102-BCB3-E66D80AF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70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F58436-7E9A-4D26-9E66-694866F9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292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266k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D44214-5CE3-44E8-8175-8B23F2D9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292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2.82%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EE0EEE-6E79-4540-81E6-9A3F5782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29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3.77x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103C11-1DB7-4BD6-9661-3CD2602B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$86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D7ACB36-35C9-4201-8838-2133A17E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23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Campaign tests spent $362 with no purchase value; kept out of the main proof but useful as a reminder to separate testing from the revenue engine.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4F8FC8-6F7E-47CB-837B-0444C1E2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BB699F-FA45-4815-A08D-8A9850C4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9515D8-8688-4D69-B9E8-F9A0DEF6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2421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97046A-2230-4D0C-842D-CDE41C3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BE416-C965-4FF8-94B7-24F06A6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50C5B4-3CF0-4C56-B596-5B22BD1A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2026 AD-SET ARCHITECTURE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b34a5cc404c04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19BEA-F6EF-4FDA-BF49-3C80E1F2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2026 plan should look like an operating map, not one big campaign.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0B617-04DB-4B46-9BE0-1390C9A3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This is the visual we can use with the client: each lane has a job, a trigger, and a reporting metric.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0A20A-7A8B-4241-8782-51D38249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B783F-F698-4D99-BA12-663397BE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B9666-EBEC-4C5A-BED7-14A38937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57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757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5F178-C7A2-442C-82EC-A32C5A84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146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Market launch / cold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5B9C7-FD6E-45FB-A9E1-0412945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Open each city with broad concert demand, Latin music interest, and value-optimized purchase delivery. Goal: create early purchase signal before urgency pricing starts.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49EE3-EE08-4506-95CF-8DB6641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5733A-AD87-4886-94FE-03A4C954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EF092-9E11-4216-A8F4-AFA8F5B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8538D-3426-4E18-BA23-ED9B8685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146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High-intent retargeting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6FD11-349B-4020-80AB-401797D0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146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Retarget site visitors, add-to-cart, checkout starters, video viewers, and engaged social audiences. Goal: protect ROAS and lower cost per purchase.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097F3-3ED9-485E-A348-956323D2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C17CF-9BFB-4CA4-9D51-4033192F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41B10-4C65-4E12-8378-997747D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B4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F5B4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5A654-88B5-4C01-83DF-3C75AAE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City rescue / late 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68678-0F95-457C-9675-2B86EB6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386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Trigger only when city pacing falls behind: budget moves to the soft market, not the loudest one. Goal: avoid leg-2 style late inefficiency.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7CA3F-DA2B-4D83-81E5-CA3CF82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1F7F0-EBB0-4F8B-B7CF-2F3D3F57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17AAF-4C6F-4739-B1C5-5C108C6C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08A19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D08A19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A30BB-818E-480B-B9E3-029D3C1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Creative rotation / proof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8B527-EB94-41A5-BF25-4075151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386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Separate artist/tour assets, city urgency, seat scarcity, and testimonial/proof units. Goal: avoid creative fatigue and see which story sells.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451F3-9651-4C0C-87B9-25B5ECFA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811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ADFB0-D1A5-45A5-BA37-8F6DB6D8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Reporting cadence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C0F6A-1B47-40B7-BC86-E700C773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626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Every week: spend, made, purchases, reach, CTR, ROAS, CPP, winning ad sets, losing ad sets, and city risk.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EC237-5AC1-49C4-B003-0CC675FA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1B052-1F85-457D-B775-2D0E0774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25C44-33B8-470E-920C-C65BC221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5304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0EE70E-4A22-4879-9CF0-15F646B7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8EDBA-62CA-44D9-89D4-554291E2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5E1733-99B3-4C09-A7E8-FE2F0BE4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META-NATIVE PROOF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8869ea8bf4419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BCEA7-F9A2-488E-9486-91773896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Keep the generated visuals polished, but let Meta carry the credibility.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997DF-3BD9-4547-933E-12AB142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The proof slides should show screenshots from Ads Manager, then the deck translates them into the business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91876-34B9-4C29-B9DD-FD8420EE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143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a054b09434d07"/>
          <a:stretch xmlns:a="http://schemas.openxmlformats.org/drawingml/2006/main"/>
        </p:blipFill>
        <p:spPr>
          <a:xfrm xmlns:a="http://schemas.openxmlformats.org/drawingml/2006/main">
            <a:off x="1001316" y="2381250"/>
            <a:ext cx="4321969" cy="2305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D3AE1-3450-4CAD-BC84-7C3DAA6F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A4 main: 816 purchases, $35.2k spend, 6.12x ROAS.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20F1C-7B58-4DE6-8844-A7022A1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5143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1ef0330b24e53"/>
          <a:stretch xmlns:a="http://schemas.openxmlformats.org/drawingml/2006/main"/>
        </p:blipFill>
        <p:spPr>
          <a:xfrm xmlns:a="http://schemas.openxmlformats.org/drawingml/2006/main">
            <a:off x="6525816" y="2381250"/>
            <a:ext cx="4321969" cy="2305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7C593-610E-44CA-9476-9BDA41C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AA1 main: 517 purchases, $27.5k spend, 3.49x ROAS.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FBC08-A2C8-44ED-9264-91C1F705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8420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FFAB-5B4A-4B72-A78E-3827279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76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Creative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EB8C0-D957-4ADE-A89C-6F4E2176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38800"/>
            <a:ext cx="630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Use generated visuals for polish and mood. Use real approved artist/tour assets and real Meta screenshots for anything that implies proof or identity.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139E7-B31D-4920-AB1B-CC40B1D0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879BE-EDB4-4896-9B4F-3CBE0D36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DB915-BBB7-4CDA-B5EF-EE790E3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2779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5AF8F-3749-4F6A-B024-3C44DF2A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DD21D-665E-4305-95A2-88EA071F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8F954D-A54C-4B69-AF60-556BB304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5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C8D5FF"/>
                </a:solidFill>
                <a:latin typeface="Avenir Next"/>
                <a:ea typeface="Avenir Next"/>
                <a:cs typeface="Avenir Next"/>
              </a:rPr>
              <a:t>CLOSING ASK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6962cd77f4232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BBEC-E692-4425-99CB-79527441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Ask for the tour. Sell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E0035-7A66-4C3D-ADE5-30203FD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The story is not that Outlet spent money. The story is that Outlet converted paid attention into tracked ticket revenue, and the next tour can be managed with more discipline.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1354E-E147-4C14-B0EA-4D6A125F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11430">
            <a:solidFill>
              <a:srgbClr val="1686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6AAE8-4AF8-4DE8-808F-1532A3B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13EDF-CB1F-4A46-9038-8D1E3CA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4EED7-2455-4628-B14E-96404811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OF RETURN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3BB0C-E2ED-4C97-B9F6-26194CF8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rPr>
              <a:t>prior tour ROAS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379AF-88B3-4C04-976F-28A213E9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11430">
            <a:solidFill>
              <a:srgbClr val="D08A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C65DF-96FA-47B3-AC1F-F6ED6FD6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19D0E-0ADF-45FE-AEC8-B31AAF76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08A1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D08A19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0B4DA-A70B-48A3-8328-EF2134D2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OF 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4C37C-47DB-4597-95B3-0CC4710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rPr>
              <a:t>tracked purchase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E4711-1711-4746-A94D-3574F1C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24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11430">
            <a:solidFill>
              <a:srgbClr val="EF5B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3A43C-756D-4857-B15D-36E29460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241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F315B-0AA3-4F16-9EE5-EE42885B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95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F5B4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EF5B42"/>
                </a:solidFill>
                <a:latin typeface="Georgia"/>
                <a:ea typeface="Georgia"/>
                <a:cs typeface="Georgia"/>
              </a:rPr>
              <a:t>3.64M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DB79E-156A-47E3-ABE7-18BD3A4D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766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OF REACH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07BE0-0B06-457F-956A-2577912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rPr>
              <a:t>account-level audience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F0FEC-6FB7-4D1D-A7D2-FB3A7FA6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11430">
            <a:solidFill>
              <a:srgbClr val="C8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7F213-DC96-4410-BE37-E191BF24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4C614-88F3-40A9-8990-0B284C9E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D5FF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C8D5FF"/>
                </a:solidFill>
                <a:latin typeface="Georgia"/>
                <a:ea typeface="Georgia"/>
                <a:cs typeface="Georgia"/>
              </a:rPr>
              <a:t>1,716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C5CC1-E9BC-4233-A8C7-08A1503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OF DEMAND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AD115-4EC5-40AA-8F13-2856C3D9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rPr>
              <a:t>corrected purchases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91073-7C81-44C4-893A-440FA83B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85C4B-E8E7-4255-9E3D-D7C187E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99DA4-B4AB-407B-AF4E-DA458392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672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Full USA/Canada tour 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E6B86B-FE52-41A2-A5BA-7690783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Do not pitch city-by-city scraps. Use prior proof to ask for the full calendar.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A8D24-3E30-4DF7-9D16-BCE0D334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D5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8D5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FA9C4D-270C-4CE8-8E8E-806FB02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E35DFA-14E4-4AA1-8218-76CC326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863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Early asset + URL access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83EBD3-FEEA-4761-845D-32A7F582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768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We need ticket URLs, pixel verification, city dates, and approved creative before late pressure starts.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22F5FC-F789-4A88-B6BE-ABDBC208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D5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8D5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D33AE8-EB54-4C19-A9FE-23B11200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02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ED8170-90EB-4858-971E-E7E14793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054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Budget rules by city risk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A780D7-A261-4E61-8E16-E8C55695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959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Each city gets launch, retargeting, and rescue budgets. Money moves by signal.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D6B33B-E2A1-4930-8B0F-3BBAD37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D5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8D5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73F792-6EF8-4151-9F1C-F23A90D3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293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6DC019-4DCF-4D8F-901B-73D41F4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245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Weekly executive reporting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B7A483-5288-4F47-B8B2-A87574A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15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Spend, made, purchases, reach, CTR, ROAS, CPP, winning ad sets, and city risk.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A2E9AE-BF83-418D-9BF6-69BFDAEC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45F597-0BF9-4E9B-82B0-E2058A5A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291C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291C8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A13465-6A5A-4B28-9D7B-E20E656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BE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BE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6564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2026-05-12T00:11:24.3790000Z</dcterms:created>
  <dcterms:modified xsi:type="dcterms:W3CDTF">2026-05-12T00:11:24.3790000Z</dcterms:modified>
</coreProperties>
</file>